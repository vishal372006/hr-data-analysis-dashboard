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6118E4-6918-492C-818C-CECAECF71021}" type="doc">
      <dgm:prSet loTypeId="urn:microsoft.com/office/officeart/2016/7/layout/RepeatingBendingProcessNew" loCatId="process" qsTypeId="urn:microsoft.com/office/officeart/2005/8/quickstyle/simple1" qsCatId="simple" csTypeId="urn:microsoft.com/office/officeart/2005/8/colors/colorful2" csCatId="colorful"/>
      <dgm:spPr/>
      <dgm:t>
        <a:bodyPr/>
        <a:lstStyle/>
        <a:p>
          <a:endParaRPr lang="en-US"/>
        </a:p>
      </dgm:t>
    </dgm:pt>
    <dgm:pt modelId="{502EF79F-C977-4EAA-B575-BB0B751062FC}">
      <dgm:prSet/>
      <dgm:spPr/>
      <dgm:t>
        <a:bodyPr/>
        <a:lstStyle/>
        <a:p>
          <a:r>
            <a:rPr lang="en-IN" b="1" u="sng"/>
            <a:t>Data Import</a:t>
          </a:r>
          <a:endParaRPr lang="en-US"/>
        </a:p>
      </dgm:t>
    </dgm:pt>
    <dgm:pt modelId="{F295FEC4-3D82-45CA-AF46-171EED609D39}" type="parTrans" cxnId="{2FAD1461-8176-478A-BA20-7D32D1E5DEDE}">
      <dgm:prSet/>
      <dgm:spPr/>
      <dgm:t>
        <a:bodyPr/>
        <a:lstStyle/>
        <a:p>
          <a:endParaRPr lang="en-US"/>
        </a:p>
      </dgm:t>
    </dgm:pt>
    <dgm:pt modelId="{8EFB8315-4495-445F-993A-5C772E26BA13}" type="sibTrans" cxnId="{2FAD1461-8176-478A-BA20-7D32D1E5DEDE}">
      <dgm:prSet/>
      <dgm:spPr/>
      <dgm:t>
        <a:bodyPr/>
        <a:lstStyle/>
        <a:p>
          <a:endParaRPr lang="en-US"/>
        </a:p>
      </dgm:t>
    </dgm:pt>
    <dgm:pt modelId="{C1CBBDD6-DA74-4BF7-9EBB-1C06982ABFBF}">
      <dgm:prSet/>
      <dgm:spPr/>
      <dgm:t>
        <a:bodyPr/>
        <a:lstStyle/>
        <a:p>
          <a:r>
            <a:rPr lang="en-IN"/>
            <a:t>Imported the Employee Attrition CSV dataset into Tableau. </a:t>
          </a:r>
          <a:endParaRPr lang="en-US"/>
        </a:p>
      </dgm:t>
    </dgm:pt>
    <dgm:pt modelId="{55773593-2744-4180-BB4B-950572853824}" type="parTrans" cxnId="{74EDC5E0-CD0C-4038-A1AB-23796FEEB637}">
      <dgm:prSet/>
      <dgm:spPr/>
      <dgm:t>
        <a:bodyPr/>
        <a:lstStyle/>
        <a:p>
          <a:endParaRPr lang="en-US"/>
        </a:p>
      </dgm:t>
    </dgm:pt>
    <dgm:pt modelId="{1D884E5B-ED5A-4044-B3ED-FB906B5C523F}" type="sibTrans" cxnId="{74EDC5E0-CD0C-4038-A1AB-23796FEEB637}">
      <dgm:prSet/>
      <dgm:spPr/>
      <dgm:t>
        <a:bodyPr/>
        <a:lstStyle/>
        <a:p>
          <a:endParaRPr lang="en-US"/>
        </a:p>
      </dgm:t>
    </dgm:pt>
    <dgm:pt modelId="{F1A3CAD9-10A5-4749-B385-3BF926ED7BEF}">
      <dgm:prSet/>
      <dgm:spPr/>
      <dgm:t>
        <a:bodyPr/>
        <a:lstStyle/>
        <a:p>
          <a:r>
            <a:rPr lang="en-IN"/>
            <a:t>Verified the dataset structure and field names. </a:t>
          </a:r>
          <a:endParaRPr lang="en-US"/>
        </a:p>
      </dgm:t>
    </dgm:pt>
    <dgm:pt modelId="{A3F4DBC7-F346-48BF-A0EC-ADC71D2C6670}" type="parTrans" cxnId="{4C0F13A7-DA78-4948-918E-31DEE4FE1662}">
      <dgm:prSet/>
      <dgm:spPr/>
      <dgm:t>
        <a:bodyPr/>
        <a:lstStyle/>
        <a:p>
          <a:endParaRPr lang="en-US"/>
        </a:p>
      </dgm:t>
    </dgm:pt>
    <dgm:pt modelId="{515269A2-E947-4509-837F-32F673B8B4AC}" type="sibTrans" cxnId="{4C0F13A7-DA78-4948-918E-31DEE4FE1662}">
      <dgm:prSet/>
      <dgm:spPr/>
      <dgm:t>
        <a:bodyPr/>
        <a:lstStyle/>
        <a:p>
          <a:endParaRPr lang="en-US"/>
        </a:p>
      </dgm:t>
    </dgm:pt>
    <dgm:pt modelId="{99B8B3D0-72F9-4CC0-B90C-868F55E52110}">
      <dgm:prSet/>
      <dgm:spPr/>
      <dgm:t>
        <a:bodyPr/>
        <a:lstStyle/>
        <a:p>
          <a:r>
            <a:rPr lang="en-IN" b="1" u="sng"/>
            <a:t>Data Cleaning</a:t>
          </a:r>
          <a:endParaRPr lang="en-US"/>
        </a:p>
      </dgm:t>
    </dgm:pt>
    <dgm:pt modelId="{836E9DFB-629A-446A-B5C2-BB9ACA745908}" type="parTrans" cxnId="{FEB1683A-E611-4275-8283-6E71CE730EEB}">
      <dgm:prSet/>
      <dgm:spPr/>
      <dgm:t>
        <a:bodyPr/>
        <a:lstStyle/>
        <a:p>
          <a:endParaRPr lang="en-US"/>
        </a:p>
      </dgm:t>
    </dgm:pt>
    <dgm:pt modelId="{B189D3F7-9C5B-4E3B-9D72-1777ED910F5D}" type="sibTrans" cxnId="{FEB1683A-E611-4275-8283-6E71CE730EEB}">
      <dgm:prSet/>
      <dgm:spPr/>
      <dgm:t>
        <a:bodyPr/>
        <a:lstStyle/>
        <a:p>
          <a:endParaRPr lang="en-US"/>
        </a:p>
      </dgm:t>
    </dgm:pt>
    <dgm:pt modelId="{D8D70912-17BB-4916-B37A-E96ADFE31F0F}">
      <dgm:prSet/>
      <dgm:spPr/>
      <dgm:t>
        <a:bodyPr/>
        <a:lstStyle/>
        <a:p>
          <a:r>
            <a:rPr lang="en-IN"/>
            <a:t>Checked for missing or null values. </a:t>
          </a:r>
          <a:endParaRPr lang="en-US"/>
        </a:p>
      </dgm:t>
    </dgm:pt>
    <dgm:pt modelId="{1028336C-5958-4DD3-BE71-97C5210805B0}" type="parTrans" cxnId="{02BBD5A7-ACF0-487D-8A49-B80936606018}">
      <dgm:prSet/>
      <dgm:spPr/>
      <dgm:t>
        <a:bodyPr/>
        <a:lstStyle/>
        <a:p>
          <a:endParaRPr lang="en-US"/>
        </a:p>
      </dgm:t>
    </dgm:pt>
    <dgm:pt modelId="{E6C15299-6CFD-4953-9958-F96DBC0A534A}" type="sibTrans" cxnId="{02BBD5A7-ACF0-487D-8A49-B80936606018}">
      <dgm:prSet/>
      <dgm:spPr/>
      <dgm:t>
        <a:bodyPr/>
        <a:lstStyle/>
        <a:p>
          <a:endParaRPr lang="en-US"/>
        </a:p>
      </dgm:t>
    </dgm:pt>
    <dgm:pt modelId="{6505DA6B-4BBA-44E5-8FD4-6589E08BAE34}">
      <dgm:prSet/>
      <dgm:spPr/>
      <dgm:t>
        <a:bodyPr/>
        <a:lstStyle/>
        <a:p>
          <a:r>
            <a:rPr lang="en-IN"/>
            <a:t>Verified and corrected data types (Dimensions and Measures). </a:t>
          </a:r>
          <a:endParaRPr lang="en-US"/>
        </a:p>
      </dgm:t>
    </dgm:pt>
    <dgm:pt modelId="{33102FA7-44C5-4615-87DB-028A9706C4EF}" type="parTrans" cxnId="{C6DE2522-815E-4C34-9A36-ECA7B9FF6AD5}">
      <dgm:prSet/>
      <dgm:spPr/>
      <dgm:t>
        <a:bodyPr/>
        <a:lstStyle/>
        <a:p>
          <a:endParaRPr lang="en-US"/>
        </a:p>
      </dgm:t>
    </dgm:pt>
    <dgm:pt modelId="{8529BEA2-4120-4B49-83B0-CC546035976B}" type="sibTrans" cxnId="{C6DE2522-815E-4C34-9A36-ECA7B9FF6AD5}">
      <dgm:prSet/>
      <dgm:spPr/>
      <dgm:t>
        <a:bodyPr/>
        <a:lstStyle/>
        <a:p>
          <a:endParaRPr lang="en-US"/>
        </a:p>
      </dgm:t>
    </dgm:pt>
    <dgm:pt modelId="{D66817D6-CF22-4347-83A6-111A204DA494}">
      <dgm:prSet/>
      <dgm:spPr/>
      <dgm:t>
        <a:bodyPr/>
        <a:lstStyle/>
        <a:p>
          <a:r>
            <a:rPr lang="en-IN"/>
            <a:t>Removed duplicate records (if any). </a:t>
          </a:r>
          <a:endParaRPr lang="en-US"/>
        </a:p>
      </dgm:t>
    </dgm:pt>
    <dgm:pt modelId="{C5364D0A-A7F4-4C28-BF91-9217069275EB}" type="parTrans" cxnId="{DBD90147-37C6-4056-9BD6-7876B6AC754E}">
      <dgm:prSet/>
      <dgm:spPr/>
      <dgm:t>
        <a:bodyPr/>
        <a:lstStyle/>
        <a:p>
          <a:endParaRPr lang="en-US"/>
        </a:p>
      </dgm:t>
    </dgm:pt>
    <dgm:pt modelId="{0A4DA3DB-5AB7-4CBB-9C79-017A4B2E8027}" type="sibTrans" cxnId="{DBD90147-37C6-4056-9BD6-7876B6AC754E}">
      <dgm:prSet/>
      <dgm:spPr/>
      <dgm:t>
        <a:bodyPr/>
        <a:lstStyle/>
        <a:p>
          <a:endParaRPr lang="en-US"/>
        </a:p>
      </dgm:t>
    </dgm:pt>
    <dgm:pt modelId="{BAE5599C-89E1-4363-B9E6-4442A8A89615}">
      <dgm:prSet/>
      <dgm:spPr/>
      <dgm:t>
        <a:bodyPr/>
        <a:lstStyle/>
        <a:p>
          <a:r>
            <a:rPr lang="en-IN"/>
            <a:t>Renamed fields for better readability and consistency.  </a:t>
          </a:r>
          <a:endParaRPr lang="en-US"/>
        </a:p>
      </dgm:t>
    </dgm:pt>
    <dgm:pt modelId="{185B3B53-EEDB-4DFA-8D1B-4D3D5A8C4E11}" type="parTrans" cxnId="{34F00447-20C7-47EA-96FB-4E7D9A00D4BE}">
      <dgm:prSet/>
      <dgm:spPr/>
      <dgm:t>
        <a:bodyPr/>
        <a:lstStyle/>
        <a:p>
          <a:endParaRPr lang="en-US"/>
        </a:p>
      </dgm:t>
    </dgm:pt>
    <dgm:pt modelId="{BFC5B0F3-D075-408C-8BF0-2D6EBABF12B2}" type="sibTrans" cxnId="{34F00447-20C7-47EA-96FB-4E7D9A00D4BE}">
      <dgm:prSet/>
      <dgm:spPr/>
      <dgm:t>
        <a:bodyPr/>
        <a:lstStyle/>
        <a:p>
          <a:endParaRPr lang="en-US"/>
        </a:p>
      </dgm:t>
    </dgm:pt>
    <dgm:pt modelId="{6ADD2680-F8D7-4AFA-AD09-929D4E141EF4}">
      <dgm:prSet/>
      <dgm:spPr/>
      <dgm:t>
        <a:bodyPr/>
        <a:lstStyle/>
        <a:p>
          <a:r>
            <a:rPr lang="en-IN" b="1" u="sng"/>
            <a:t>Data Organization</a:t>
          </a:r>
          <a:endParaRPr lang="en-US"/>
        </a:p>
      </dgm:t>
    </dgm:pt>
    <dgm:pt modelId="{22D74D8A-EDC6-440B-8C43-A465300E41DA}" type="parTrans" cxnId="{11AA4FFF-4B7A-4488-B012-5528A0DE5102}">
      <dgm:prSet/>
      <dgm:spPr/>
      <dgm:t>
        <a:bodyPr/>
        <a:lstStyle/>
        <a:p>
          <a:endParaRPr lang="en-US"/>
        </a:p>
      </dgm:t>
    </dgm:pt>
    <dgm:pt modelId="{CDC6DCF1-7B91-48B3-95EE-0897DAA79C8D}" type="sibTrans" cxnId="{11AA4FFF-4B7A-4488-B012-5528A0DE5102}">
      <dgm:prSet/>
      <dgm:spPr/>
      <dgm:t>
        <a:bodyPr/>
        <a:lstStyle/>
        <a:p>
          <a:endParaRPr lang="en-US"/>
        </a:p>
      </dgm:t>
    </dgm:pt>
    <dgm:pt modelId="{23D23315-5FBE-4844-93A7-4C89BED50E6E}">
      <dgm:prSet/>
      <dgm:spPr/>
      <dgm:t>
        <a:bodyPr/>
        <a:lstStyle/>
        <a:p>
          <a:r>
            <a:rPr lang="en-IN" dirty="0"/>
            <a:t>Created a </a:t>
          </a:r>
          <a:r>
            <a:rPr lang="en-IN" b="1" dirty="0"/>
            <a:t>Data Dictionary</a:t>
          </a:r>
          <a:r>
            <a:rPr lang="en-IN" dirty="0"/>
            <a:t> to document all dataset fields. </a:t>
          </a:r>
          <a:endParaRPr lang="en-US" dirty="0"/>
        </a:p>
      </dgm:t>
    </dgm:pt>
    <dgm:pt modelId="{A2088629-C04A-427C-8F09-82BFDE231AD0}" type="parTrans" cxnId="{C5FA10DF-3090-4FF2-B2E1-EC3356744DFF}">
      <dgm:prSet/>
      <dgm:spPr/>
      <dgm:t>
        <a:bodyPr/>
        <a:lstStyle/>
        <a:p>
          <a:endParaRPr lang="en-US"/>
        </a:p>
      </dgm:t>
    </dgm:pt>
    <dgm:pt modelId="{703A7243-74E1-46D8-B5F9-12FE4887C2BF}" type="sibTrans" cxnId="{C5FA10DF-3090-4FF2-B2E1-EC3356744DFF}">
      <dgm:prSet/>
      <dgm:spPr/>
      <dgm:t>
        <a:bodyPr/>
        <a:lstStyle/>
        <a:p>
          <a:endParaRPr lang="en-US"/>
        </a:p>
      </dgm:t>
    </dgm:pt>
    <dgm:pt modelId="{88ED2BD4-192D-4873-B66D-865C2923A7FD}">
      <dgm:prSet/>
      <dgm:spPr/>
      <dgm:t>
        <a:bodyPr/>
        <a:lstStyle/>
        <a:p>
          <a:r>
            <a:rPr lang="en-IN"/>
            <a:t>Prepared </a:t>
          </a:r>
          <a:r>
            <a:rPr lang="en-IN" b="1"/>
            <a:t>Metadata</a:t>
          </a:r>
          <a:r>
            <a:rPr lang="en-IN"/>
            <a:t> describing each variable. </a:t>
          </a:r>
          <a:endParaRPr lang="en-US"/>
        </a:p>
      </dgm:t>
    </dgm:pt>
    <dgm:pt modelId="{ACDD0590-4AD3-4DE6-9D8D-D56680F91277}" type="parTrans" cxnId="{6DDBC6F1-5B58-416A-9849-3982A95E853C}">
      <dgm:prSet/>
      <dgm:spPr/>
      <dgm:t>
        <a:bodyPr/>
        <a:lstStyle/>
        <a:p>
          <a:endParaRPr lang="en-US"/>
        </a:p>
      </dgm:t>
    </dgm:pt>
    <dgm:pt modelId="{87AE563C-39FB-438A-BC79-75B1C9645A8D}" type="sibTrans" cxnId="{6DDBC6F1-5B58-416A-9849-3982A95E853C}">
      <dgm:prSet/>
      <dgm:spPr/>
      <dgm:t>
        <a:bodyPr/>
        <a:lstStyle/>
        <a:p>
          <a:endParaRPr lang="en-US"/>
        </a:p>
      </dgm:t>
    </dgm:pt>
    <dgm:pt modelId="{5E464B16-CCE4-404C-AC65-4B48E99AF854}">
      <dgm:prSet/>
      <dgm:spPr/>
      <dgm:t>
        <a:bodyPr/>
        <a:lstStyle/>
        <a:p>
          <a:r>
            <a:rPr lang="en-IN"/>
            <a:t>Classified fields into </a:t>
          </a:r>
          <a:r>
            <a:rPr lang="en-IN" b="1"/>
            <a:t>Dimensions</a:t>
          </a:r>
          <a:r>
            <a:rPr lang="en-IN"/>
            <a:t> and </a:t>
          </a:r>
          <a:r>
            <a:rPr lang="en-IN" b="1"/>
            <a:t>Measures</a:t>
          </a:r>
          <a:r>
            <a:rPr lang="en-IN"/>
            <a:t>. </a:t>
          </a:r>
          <a:endParaRPr lang="en-US"/>
        </a:p>
      </dgm:t>
    </dgm:pt>
    <dgm:pt modelId="{CFC0E21C-FCD5-4FD7-B6E3-A2FF6DF50CC2}" type="parTrans" cxnId="{13D6331D-779B-4CD9-9AA4-94DE23CDF68B}">
      <dgm:prSet/>
      <dgm:spPr/>
      <dgm:t>
        <a:bodyPr/>
        <a:lstStyle/>
        <a:p>
          <a:endParaRPr lang="en-US"/>
        </a:p>
      </dgm:t>
    </dgm:pt>
    <dgm:pt modelId="{9E4C3AFC-4B0C-48B9-8BDD-6E92C2055842}" type="sibTrans" cxnId="{13D6331D-779B-4CD9-9AA4-94DE23CDF68B}">
      <dgm:prSet/>
      <dgm:spPr/>
      <dgm:t>
        <a:bodyPr/>
        <a:lstStyle/>
        <a:p>
          <a:endParaRPr lang="en-US"/>
        </a:p>
      </dgm:t>
    </dgm:pt>
    <dgm:pt modelId="{E8544D2B-6E06-4BDF-96BA-253F29A0E47C}">
      <dgm:prSet/>
      <dgm:spPr/>
      <dgm:t>
        <a:bodyPr/>
        <a:lstStyle/>
        <a:p>
          <a:r>
            <a:rPr lang="en-IN"/>
            <a:t>Organized the Tableau workbook for efficient analysis. </a:t>
          </a:r>
          <a:endParaRPr lang="en-US"/>
        </a:p>
      </dgm:t>
    </dgm:pt>
    <dgm:pt modelId="{45464EBD-9027-4C3C-A537-440A255D9A7B}" type="parTrans" cxnId="{97510355-D6BF-4C48-9736-B1E3E793ECDA}">
      <dgm:prSet/>
      <dgm:spPr/>
      <dgm:t>
        <a:bodyPr/>
        <a:lstStyle/>
        <a:p>
          <a:endParaRPr lang="en-US"/>
        </a:p>
      </dgm:t>
    </dgm:pt>
    <dgm:pt modelId="{12F49F8E-039F-46D6-8872-D2EE1FD4C701}" type="sibTrans" cxnId="{97510355-D6BF-4C48-9736-B1E3E793ECDA}">
      <dgm:prSet/>
      <dgm:spPr/>
      <dgm:t>
        <a:bodyPr/>
        <a:lstStyle/>
        <a:p>
          <a:endParaRPr lang="en-US"/>
        </a:p>
      </dgm:t>
    </dgm:pt>
    <dgm:pt modelId="{316D605B-10DF-421E-B18D-EFF7980EB208}">
      <dgm:prSet/>
      <dgm:spPr/>
      <dgm:t>
        <a:bodyPr/>
        <a:lstStyle/>
        <a:p>
          <a:r>
            <a:rPr lang="en-IN" b="1" u="sng"/>
            <a:t>Data Validation</a:t>
          </a:r>
          <a:endParaRPr lang="en-US"/>
        </a:p>
      </dgm:t>
    </dgm:pt>
    <dgm:pt modelId="{0C121155-9F6A-4FF0-BA27-57618876C1D3}" type="parTrans" cxnId="{E5D61049-8DC0-4687-AD57-6873B6E1217C}">
      <dgm:prSet/>
      <dgm:spPr/>
      <dgm:t>
        <a:bodyPr/>
        <a:lstStyle/>
        <a:p>
          <a:endParaRPr lang="en-US"/>
        </a:p>
      </dgm:t>
    </dgm:pt>
    <dgm:pt modelId="{2A9E0344-4F70-408E-9602-55AFF7F85904}" type="sibTrans" cxnId="{E5D61049-8DC0-4687-AD57-6873B6E1217C}">
      <dgm:prSet/>
      <dgm:spPr/>
      <dgm:t>
        <a:bodyPr/>
        <a:lstStyle/>
        <a:p>
          <a:endParaRPr lang="en-US"/>
        </a:p>
      </dgm:t>
    </dgm:pt>
    <dgm:pt modelId="{598EFF45-17E0-495C-9495-649207EE5FA9}">
      <dgm:prSet/>
      <dgm:spPr/>
      <dgm:t>
        <a:bodyPr/>
        <a:lstStyle/>
        <a:p>
          <a:r>
            <a:rPr lang="en-IN"/>
            <a:t>Verified the total number of employees (</a:t>
          </a:r>
          <a:r>
            <a:rPr lang="en-IN" b="1"/>
            <a:t>1470</a:t>
          </a:r>
          <a:r>
            <a:rPr lang="en-IN"/>
            <a:t>). </a:t>
          </a:r>
          <a:endParaRPr lang="en-US"/>
        </a:p>
      </dgm:t>
    </dgm:pt>
    <dgm:pt modelId="{B67144A1-0153-498B-BBEE-2DEC759C55C3}" type="parTrans" cxnId="{331F2B85-96BD-4BAF-974C-A77FBB54DD7E}">
      <dgm:prSet/>
      <dgm:spPr/>
      <dgm:t>
        <a:bodyPr/>
        <a:lstStyle/>
        <a:p>
          <a:endParaRPr lang="en-US"/>
        </a:p>
      </dgm:t>
    </dgm:pt>
    <dgm:pt modelId="{2491DCBE-5397-4079-A8B1-C951F31D905D}" type="sibTrans" cxnId="{331F2B85-96BD-4BAF-974C-A77FBB54DD7E}">
      <dgm:prSet/>
      <dgm:spPr/>
      <dgm:t>
        <a:bodyPr/>
        <a:lstStyle/>
        <a:p>
          <a:endParaRPr lang="en-US"/>
        </a:p>
      </dgm:t>
    </dgm:pt>
    <dgm:pt modelId="{9BB4FCF2-36B9-49DB-9A82-681337AAC6B9}">
      <dgm:prSet/>
      <dgm:spPr/>
      <dgm:t>
        <a:bodyPr/>
        <a:lstStyle/>
        <a:p>
          <a:r>
            <a:rPr lang="en-IN"/>
            <a:t>Confirmed that key HR fields were accurate.</a:t>
          </a:r>
          <a:endParaRPr lang="en-US"/>
        </a:p>
      </dgm:t>
    </dgm:pt>
    <dgm:pt modelId="{00911F2E-FE2A-4759-BDBD-DC7A8AF68205}" type="parTrans" cxnId="{8748A33A-0BE4-4A66-A24F-14EB97C8B730}">
      <dgm:prSet/>
      <dgm:spPr/>
      <dgm:t>
        <a:bodyPr/>
        <a:lstStyle/>
        <a:p>
          <a:endParaRPr lang="en-US"/>
        </a:p>
      </dgm:t>
    </dgm:pt>
    <dgm:pt modelId="{65EF52A7-EDB6-4DDE-86D1-95E65AB1859F}" type="sibTrans" cxnId="{8748A33A-0BE4-4A66-A24F-14EB97C8B730}">
      <dgm:prSet/>
      <dgm:spPr/>
      <dgm:t>
        <a:bodyPr/>
        <a:lstStyle/>
        <a:p>
          <a:endParaRPr lang="en-US"/>
        </a:p>
      </dgm:t>
    </dgm:pt>
    <dgm:pt modelId="{849B9C05-D14F-4EBB-9738-7A5F4C636DD1}" type="pres">
      <dgm:prSet presAssocID="{6C6118E4-6918-492C-818C-CECAECF71021}" presName="Name0" presStyleCnt="0">
        <dgm:presLayoutVars>
          <dgm:dir/>
          <dgm:resizeHandles val="exact"/>
        </dgm:presLayoutVars>
      </dgm:prSet>
      <dgm:spPr/>
    </dgm:pt>
    <dgm:pt modelId="{3C09E2B0-0073-4341-A60C-724F48B2EF92}" type="pres">
      <dgm:prSet presAssocID="{502EF79F-C977-4EAA-B575-BB0B751062FC}" presName="node" presStyleLbl="node1" presStyleIdx="0" presStyleCnt="16">
        <dgm:presLayoutVars>
          <dgm:bulletEnabled val="1"/>
        </dgm:presLayoutVars>
      </dgm:prSet>
      <dgm:spPr/>
    </dgm:pt>
    <dgm:pt modelId="{1C773563-BE1F-4629-BBD7-766BBFBFAD4C}" type="pres">
      <dgm:prSet presAssocID="{8EFB8315-4495-445F-993A-5C772E26BA13}" presName="sibTrans" presStyleLbl="sibTrans1D1" presStyleIdx="0" presStyleCnt="15"/>
      <dgm:spPr/>
    </dgm:pt>
    <dgm:pt modelId="{982D1046-A738-4D7A-9A69-12A45A129ADA}" type="pres">
      <dgm:prSet presAssocID="{8EFB8315-4495-445F-993A-5C772E26BA13}" presName="connectorText" presStyleLbl="sibTrans1D1" presStyleIdx="0" presStyleCnt="15"/>
      <dgm:spPr/>
    </dgm:pt>
    <dgm:pt modelId="{53556034-F108-41C9-95C6-93E74BC15E8C}" type="pres">
      <dgm:prSet presAssocID="{C1CBBDD6-DA74-4BF7-9EBB-1C06982ABFBF}" presName="node" presStyleLbl="node1" presStyleIdx="1" presStyleCnt="16">
        <dgm:presLayoutVars>
          <dgm:bulletEnabled val="1"/>
        </dgm:presLayoutVars>
      </dgm:prSet>
      <dgm:spPr/>
    </dgm:pt>
    <dgm:pt modelId="{BB9E4828-F095-4411-9839-C79DA80A633E}" type="pres">
      <dgm:prSet presAssocID="{1D884E5B-ED5A-4044-B3ED-FB906B5C523F}" presName="sibTrans" presStyleLbl="sibTrans1D1" presStyleIdx="1" presStyleCnt="15"/>
      <dgm:spPr/>
    </dgm:pt>
    <dgm:pt modelId="{CF249599-4167-473A-B97D-2CE7ED606D5E}" type="pres">
      <dgm:prSet presAssocID="{1D884E5B-ED5A-4044-B3ED-FB906B5C523F}" presName="connectorText" presStyleLbl="sibTrans1D1" presStyleIdx="1" presStyleCnt="15"/>
      <dgm:spPr/>
    </dgm:pt>
    <dgm:pt modelId="{B72354A2-5E2F-4518-AB04-9448EA892788}" type="pres">
      <dgm:prSet presAssocID="{F1A3CAD9-10A5-4749-B385-3BF926ED7BEF}" presName="node" presStyleLbl="node1" presStyleIdx="2" presStyleCnt="16">
        <dgm:presLayoutVars>
          <dgm:bulletEnabled val="1"/>
        </dgm:presLayoutVars>
      </dgm:prSet>
      <dgm:spPr/>
    </dgm:pt>
    <dgm:pt modelId="{9510A962-D98A-41BC-9CE8-6E3CAD5255D8}" type="pres">
      <dgm:prSet presAssocID="{515269A2-E947-4509-837F-32F673B8B4AC}" presName="sibTrans" presStyleLbl="sibTrans1D1" presStyleIdx="2" presStyleCnt="15"/>
      <dgm:spPr/>
    </dgm:pt>
    <dgm:pt modelId="{D5CCB728-1AAB-4005-ABAC-7E63CCCBC25D}" type="pres">
      <dgm:prSet presAssocID="{515269A2-E947-4509-837F-32F673B8B4AC}" presName="connectorText" presStyleLbl="sibTrans1D1" presStyleIdx="2" presStyleCnt="15"/>
      <dgm:spPr/>
    </dgm:pt>
    <dgm:pt modelId="{B68423C3-7806-4B69-B022-97C225CE9C8C}" type="pres">
      <dgm:prSet presAssocID="{99B8B3D0-72F9-4CC0-B90C-868F55E52110}" presName="node" presStyleLbl="node1" presStyleIdx="3" presStyleCnt="16">
        <dgm:presLayoutVars>
          <dgm:bulletEnabled val="1"/>
        </dgm:presLayoutVars>
      </dgm:prSet>
      <dgm:spPr/>
    </dgm:pt>
    <dgm:pt modelId="{93FDBFC2-9B7C-4B5F-BC51-80DEA47FF9A4}" type="pres">
      <dgm:prSet presAssocID="{B189D3F7-9C5B-4E3B-9D72-1777ED910F5D}" presName="sibTrans" presStyleLbl="sibTrans1D1" presStyleIdx="3" presStyleCnt="15"/>
      <dgm:spPr/>
    </dgm:pt>
    <dgm:pt modelId="{74898DA5-C360-4F00-8124-7024CB7C30F2}" type="pres">
      <dgm:prSet presAssocID="{B189D3F7-9C5B-4E3B-9D72-1777ED910F5D}" presName="connectorText" presStyleLbl="sibTrans1D1" presStyleIdx="3" presStyleCnt="15"/>
      <dgm:spPr/>
    </dgm:pt>
    <dgm:pt modelId="{6AC1CDC6-1A17-4A59-990F-48ADDA731EBF}" type="pres">
      <dgm:prSet presAssocID="{D8D70912-17BB-4916-B37A-E96ADFE31F0F}" presName="node" presStyleLbl="node1" presStyleIdx="4" presStyleCnt="16">
        <dgm:presLayoutVars>
          <dgm:bulletEnabled val="1"/>
        </dgm:presLayoutVars>
      </dgm:prSet>
      <dgm:spPr/>
    </dgm:pt>
    <dgm:pt modelId="{89DECFE3-885F-4F91-8AAA-4D1BF3006B3D}" type="pres">
      <dgm:prSet presAssocID="{E6C15299-6CFD-4953-9958-F96DBC0A534A}" presName="sibTrans" presStyleLbl="sibTrans1D1" presStyleIdx="4" presStyleCnt="15"/>
      <dgm:spPr/>
    </dgm:pt>
    <dgm:pt modelId="{DC6D3200-656B-40BE-95D0-0ACEE9F3A81A}" type="pres">
      <dgm:prSet presAssocID="{E6C15299-6CFD-4953-9958-F96DBC0A534A}" presName="connectorText" presStyleLbl="sibTrans1D1" presStyleIdx="4" presStyleCnt="15"/>
      <dgm:spPr/>
    </dgm:pt>
    <dgm:pt modelId="{FF690A41-D2AB-4716-96DB-EF24E41C3764}" type="pres">
      <dgm:prSet presAssocID="{6505DA6B-4BBA-44E5-8FD4-6589E08BAE34}" presName="node" presStyleLbl="node1" presStyleIdx="5" presStyleCnt="16">
        <dgm:presLayoutVars>
          <dgm:bulletEnabled val="1"/>
        </dgm:presLayoutVars>
      </dgm:prSet>
      <dgm:spPr/>
    </dgm:pt>
    <dgm:pt modelId="{8AB1DB3A-0A4B-4523-B639-5BEDAB9FFAF8}" type="pres">
      <dgm:prSet presAssocID="{8529BEA2-4120-4B49-83B0-CC546035976B}" presName="sibTrans" presStyleLbl="sibTrans1D1" presStyleIdx="5" presStyleCnt="15"/>
      <dgm:spPr/>
    </dgm:pt>
    <dgm:pt modelId="{1DD70ADB-BD45-42C1-822C-7D724B779AF1}" type="pres">
      <dgm:prSet presAssocID="{8529BEA2-4120-4B49-83B0-CC546035976B}" presName="connectorText" presStyleLbl="sibTrans1D1" presStyleIdx="5" presStyleCnt="15"/>
      <dgm:spPr/>
    </dgm:pt>
    <dgm:pt modelId="{DB2E959C-4BA9-4E21-8732-93D577574906}" type="pres">
      <dgm:prSet presAssocID="{D66817D6-CF22-4347-83A6-111A204DA494}" presName="node" presStyleLbl="node1" presStyleIdx="6" presStyleCnt="16">
        <dgm:presLayoutVars>
          <dgm:bulletEnabled val="1"/>
        </dgm:presLayoutVars>
      </dgm:prSet>
      <dgm:spPr/>
    </dgm:pt>
    <dgm:pt modelId="{E0BBA632-FDF3-48FA-A650-5334505C0A6D}" type="pres">
      <dgm:prSet presAssocID="{0A4DA3DB-5AB7-4CBB-9C79-017A4B2E8027}" presName="sibTrans" presStyleLbl="sibTrans1D1" presStyleIdx="6" presStyleCnt="15"/>
      <dgm:spPr/>
    </dgm:pt>
    <dgm:pt modelId="{E6AD5972-47BB-4B6F-B91D-D7E14A6341DC}" type="pres">
      <dgm:prSet presAssocID="{0A4DA3DB-5AB7-4CBB-9C79-017A4B2E8027}" presName="connectorText" presStyleLbl="sibTrans1D1" presStyleIdx="6" presStyleCnt="15"/>
      <dgm:spPr/>
    </dgm:pt>
    <dgm:pt modelId="{8B01F702-2CD1-4D3F-AA80-1D53275452FA}" type="pres">
      <dgm:prSet presAssocID="{BAE5599C-89E1-4363-B9E6-4442A8A89615}" presName="node" presStyleLbl="node1" presStyleIdx="7" presStyleCnt="16">
        <dgm:presLayoutVars>
          <dgm:bulletEnabled val="1"/>
        </dgm:presLayoutVars>
      </dgm:prSet>
      <dgm:spPr/>
    </dgm:pt>
    <dgm:pt modelId="{8BA09D29-5E3C-495B-AC2F-D8EA71DFAF35}" type="pres">
      <dgm:prSet presAssocID="{BFC5B0F3-D075-408C-8BF0-2D6EBABF12B2}" presName="sibTrans" presStyleLbl="sibTrans1D1" presStyleIdx="7" presStyleCnt="15"/>
      <dgm:spPr/>
    </dgm:pt>
    <dgm:pt modelId="{65B0FF42-B98F-4DE3-AA17-8E11251BDC55}" type="pres">
      <dgm:prSet presAssocID="{BFC5B0F3-D075-408C-8BF0-2D6EBABF12B2}" presName="connectorText" presStyleLbl="sibTrans1D1" presStyleIdx="7" presStyleCnt="15"/>
      <dgm:spPr/>
    </dgm:pt>
    <dgm:pt modelId="{BED226E2-082D-43E0-94F8-5B326FB6572E}" type="pres">
      <dgm:prSet presAssocID="{6ADD2680-F8D7-4AFA-AD09-929D4E141EF4}" presName="node" presStyleLbl="node1" presStyleIdx="8" presStyleCnt="16">
        <dgm:presLayoutVars>
          <dgm:bulletEnabled val="1"/>
        </dgm:presLayoutVars>
      </dgm:prSet>
      <dgm:spPr/>
    </dgm:pt>
    <dgm:pt modelId="{C451D691-4656-4298-B429-7F86DD8B56B5}" type="pres">
      <dgm:prSet presAssocID="{CDC6DCF1-7B91-48B3-95EE-0897DAA79C8D}" presName="sibTrans" presStyleLbl="sibTrans1D1" presStyleIdx="8" presStyleCnt="15"/>
      <dgm:spPr/>
    </dgm:pt>
    <dgm:pt modelId="{1F327643-58EC-4908-A281-6C2C37656945}" type="pres">
      <dgm:prSet presAssocID="{CDC6DCF1-7B91-48B3-95EE-0897DAA79C8D}" presName="connectorText" presStyleLbl="sibTrans1D1" presStyleIdx="8" presStyleCnt="15"/>
      <dgm:spPr/>
    </dgm:pt>
    <dgm:pt modelId="{E283BE3F-4780-4E03-9012-EC75714CA795}" type="pres">
      <dgm:prSet presAssocID="{23D23315-5FBE-4844-93A7-4C89BED50E6E}" presName="node" presStyleLbl="node1" presStyleIdx="9" presStyleCnt="16">
        <dgm:presLayoutVars>
          <dgm:bulletEnabled val="1"/>
        </dgm:presLayoutVars>
      </dgm:prSet>
      <dgm:spPr/>
    </dgm:pt>
    <dgm:pt modelId="{F79AA501-FF49-4CC2-A447-C393BD4C9F36}" type="pres">
      <dgm:prSet presAssocID="{703A7243-74E1-46D8-B5F9-12FE4887C2BF}" presName="sibTrans" presStyleLbl="sibTrans1D1" presStyleIdx="9" presStyleCnt="15"/>
      <dgm:spPr/>
    </dgm:pt>
    <dgm:pt modelId="{278F426C-1152-4DC2-806A-F145320F338A}" type="pres">
      <dgm:prSet presAssocID="{703A7243-74E1-46D8-B5F9-12FE4887C2BF}" presName="connectorText" presStyleLbl="sibTrans1D1" presStyleIdx="9" presStyleCnt="15"/>
      <dgm:spPr/>
    </dgm:pt>
    <dgm:pt modelId="{D5EC251D-3E65-4736-9D54-6D70801876DD}" type="pres">
      <dgm:prSet presAssocID="{88ED2BD4-192D-4873-B66D-865C2923A7FD}" presName="node" presStyleLbl="node1" presStyleIdx="10" presStyleCnt="16">
        <dgm:presLayoutVars>
          <dgm:bulletEnabled val="1"/>
        </dgm:presLayoutVars>
      </dgm:prSet>
      <dgm:spPr/>
    </dgm:pt>
    <dgm:pt modelId="{2B147A57-1BB8-451B-B903-6E0406A95A8F}" type="pres">
      <dgm:prSet presAssocID="{87AE563C-39FB-438A-BC79-75B1C9645A8D}" presName="sibTrans" presStyleLbl="sibTrans1D1" presStyleIdx="10" presStyleCnt="15"/>
      <dgm:spPr/>
    </dgm:pt>
    <dgm:pt modelId="{FE8D0801-1759-4BFD-8EB8-B7A6B4796837}" type="pres">
      <dgm:prSet presAssocID="{87AE563C-39FB-438A-BC79-75B1C9645A8D}" presName="connectorText" presStyleLbl="sibTrans1D1" presStyleIdx="10" presStyleCnt="15"/>
      <dgm:spPr/>
    </dgm:pt>
    <dgm:pt modelId="{977CA2E3-9C78-4918-8576-56D589042E3F}" type="pres">
      <dgm:prSet presAssocID="{5E464B16-CCE4-404C-AC65-4B48E99AF854}" presName="node" presStyleLbl="node1" presStyleIdx="11" presStyleCnt="16">
        <dgm:presLayoutVars>
          <dgm:bulletEnabled val="1"/>
        </dgm:presLayoutVars>
      </dgm:prSet>
      <dgm:spPr/>
    </dgm:pt>
    <dgm:pt modelId="{FFAD2819-979B-4BEC-AE7D-5B3DE07DB11C}" type="pres">
      <dgm:prSet presAssocID="{9E4C3AFC-4B0C-48B9-8BDD-6E92C2055842}" presName="sibTrans" presStyleLbl="sibTrans1D1" presStyleIdx="11" presStyleCnt="15"/>
      <dgm:spPr/>
    </dgm:pt>
    <dgm:pt modelId="{FE9C5685-3ADF-4095-9A1B-3047298C6DB6}" type="pres">
      <dgm:prSet presAssocID="{9E4C3AFC-4B0C-48B9-8BDD-6E92C2055842}" presName="connectorText" presStyleLbl="sibTrans1D1" presStyleIdx="11" presStyleCnt="15"/>
      <dgm:spPr/>
    </dgm:pt>
    <dgm:pt modelId="{40636632-BD95-436D-9B2F-0EFA629C92E3}" type="pres">
      <dgm:prSet presAssocID="{E8544D2B-6E06-4BDF-96BA-253F29A0E47C}" presName="node" presStyleLbl="node1" presStyleIdx="12" presStyleCnt="16">
        <dgm:presLayoutVars>
          <dgm:bulletEnabled val="1"/>
        </dgm:presLayoutVars>
      </dgm:prSet>
      <dgm:spPr/>
    </dgm:pt>
    <dgm:pt modelId="{77BE155A-5FB2-425E-8F04-738F4E0AC409}" type="pres">
      <dgm:prSet presAssocID="{12F49F8E-039F-46D6-8872-D2EE1FD4C701}" presName="sibTrans" presStyleLbl="sibTrans1D1" presStyleIdx="12" presStyleCnt="15"/>
      <dgm:spPr/>
    </dgm:pt>
    <dgm:pt modelId="{B7D67BAE-7CC1-4910-B3A5-ECD40B488BA7}" type="pres">
      <dgm:prSet presAssocID="{12F49F8E-039F-46D6-8872-D2EE1FD4C701}" presName="connectorText" presStyleLbl="sibTrans1D1" presStyleIdx="12" presStyleCnt="15"/>
      <dgm:spPr/>
    </dgm:pt>
    <dgm:pt modelId="{781CF3AD-616D-4558-91EB-B2CD4E1B61F1}" type="pres">
      <dgm:prSet presAssocID="{316D605B-10DF-421E-B18D-EFF7980EB208}" presName="node" presStyleLbl="node1" presStyleIdx="13" presStyleCnt="16">
        <dgm:presLayoutVars>
          <dgm:bulletEnabled val="1"/>
        </dgm:presLayoutVars>
      </dgm:prSet>
      <dgm:spPr/>
    </dgm:pt>
    <dgm:pt modelId="{29680C1E-FEC1-47A9-809D-80048371DA49}" type="pres">
      <dgm:prSet presAssocID="{2A9E0344-4F70-408E-9602-55AFF7F85904}" presName="sibTrans" presStyleLbl="sibTrans1D1" presStyleIdx="13" presStyleCnt="15"/>
      <dgm:spPr/>
    </dgm:pt>
    <dgm:pt modelId="{8157A2DE-230B-4BF1-9B68-F528EFB8B120}" type="pres">
      <dgm:prSet presAssocID="{2A9E0344-4F70-408E-9602-55AFF7F85904}" presName="connectorText" presStyleLbl="sibTrans1D1" presStyleIdx="13" presStyleCnt="15"/>
      <dgm:spPr/>
    </dgm:pt>
    <dgm:pt modelId="{D1E59C8D-DD92-46FA-8417-7F81D3AAEFD6}" type="pres">
      <dgm:prSet presAssocID="{598EFF45-17E0-495C-9495-649207EE5FA9}" presName="node" presStyleLbl="node1" presStyleIdx="14" presStyleCnt="16">
        <dgm:presLayoutVars>
          <dgm:bulletEnabled val="1"/>
        </dgm:presLayoutVars>
      </dgm:prSet>
      <dgm:spPr/>
    </dgm:pt>
    <dgm:pt modelId="{3B61CC99-03EC-4B90-AB88-A9F199F01129}" type="pres">
      <dgm:prSet presAssocID="{2491DCBE-5397-4079-A8B1-C951F31D905D}" presName="sibTrans" presStyleLbl="sibTrans1D1" presStyleIdx="14" presStyleCnt="15"/>
      <dgm:spPr/>
    </dgm:pt>
    <dgm:pt modelId="{7AF34EBE-FDE3-4201-BA16-39AAE64EB1EF}" type="pres">
      <dgm:prSet presAssocID="{2491DCBE-5397-4079-A8B1-C951F31D905D}" presName="connectorText" presStyleLbl="sibTrans1D1" presStyleIdx="14" presStyleCnt="15"/>
      <dgm:spPr/>
    </dgm:pt>
    <dgm:pt modelId="{E8982C2E-F82C-4780-AC99-9C75BF3319E7}" type="pres">
      <dgm:prSet presAssocID="{9BB4FCF2-36B9-49DB-9A82-681337AAC6B9}" presName="node" presStyleLbl="node1" presStyleIdx="15" presStyleCnt="16">
        <dgm:presLayoutVars>
          <dgm:bulletEnabled val="1"/>
        </dgm:presLayoutVars>
      </dgm:prSet>
      <dgm:spPr/>
    </dgm:pt>
  </dgm:ptLst>
  <dgm:cxnLst>
    <dgm:cxn modelId="{38C6631A-D4C8-4E77-BDB3-DB81EE2B5F4D}" type="presOf" srcId="{CDC6DCF1-7B91-48B3-95EE-0897DAA79C8D}" destId="{C451D691-4656-4298-B429-7F86DD8B56B5}" srcOrd="0" destOrd="0" presId="urn:microsoft.com/office/officeart/2016/7/layout/RepeatingBendingProcessNew"/>
    <dgm:cxn modelId="{5C2E001B-5B5E-46F3-B057-45ABC32A3DA7}" type="presOf" srcId="{8EFB8315-4495-445F-993A-5C772E26BA13}" destId="{1C773563-BE1F-4629-BBD7-766BBFBFAD4C}" srcOrd="0" destOrd="0" presId="urn:microsoft.com/office/officeart/2016/7/layout/RepeatingBendingProcessNew"/>
    <dgm:cxn modelId="{13D6331D-779B-4CD9-9AA4-94DE23CDF68B}" srcId="{6C6118E4-6918-492C-818C-CECAECF71021}" destId="{5E464B16-CCE4-404C-AC65-4B48E99AF854}" srcOrd="11" destOrd="0" parTransId="{CFC0E21C-FCD5-4FD7-B6E3-A2FF6DF50CC2}" sibTransId="{9E4C3AFC-4B0C-48B9-8BDD-6E92C2055842}"/>
    <dgm:cxn modelId="{366A511E-4260-47B3-BFCB-FDE0EC3E3F7B}" type="presOf" srcId="{2491DCBE-5397-4079-A8B1-C951F31D905D}" destId="{7AF34EBE-FDE3-4201-BA16-39AAE64EB1EF}" srcOrd="1" destOrd="0" presId="urn:microsoft.com/office/officeart/2016/7/layout/RepeatingBendingProcessNew"/>
    <dgm:cxn modelId="{C6DE2522-815E-4C34-9A36-ECA7B9FF6AD5}" srcId="{6C6118E4-6918-492C-818C-CECAECF71021}" destId="{6505DA6B-4BBA-44E5-8FD4-6589E08BAE34}" srcOrd="5" destOrd="0" parTransId="{33102FA7-44C5-4615-87DB-028A9706C4EF}" sibTransId="{8529BEA2-4120-4B49-83B0-CC546035976B}"/>
    <dgm:cxn modelId="{3BD8452C-8DEF-4895-9338-47428B13CFAE}" type="presOf" srcId="{BFC5B0F3-D075-408C-8BF0-2D6EBABF12B2}" destId="{65B0FF42-B98F-4DE3-AA17-8E11251BDC55}" srcOrd="1" destOrd="0" presId="urn:microsoft.com/office/officeart/2016/7/layout/RepeatingBendingProcessNew"/>
    <dgm:cxn modelId="{C6A0C02D-5169-4F16-8405-58DA1D508986}" type="presOf" srcId="{F1A3CAD9-10A5-4749-B385-3BF926ED7BEF}" destId="{B72354A2-5E2F-4518-AB04-9448EA892788}" srcOrd="0" destOrd="0" presId="urn:microsoft.com/office/officeart/2016/7/layout/RepeatingBendingProcessNew"/>
    <dgm:cxn modelId="{FEB1683A-E611-4275-8283-6E71CE730EEB}" srcId="{6C6118E4-6918-492C-818C-CECAECF71021}" destId="{99B8B3D0-72F9-4CC0-B90C-868F55E52110}" srcOrd="3" destOrd="0" parTransId="{836E9DFB-629A-446A-B5C2-BB9ACA745908}" sibTransId="{B189D3F7-9C5B-4E3B-9D72-1777ED910F5D}"/>
    <dgm:cxn modelId="{8748A33A-0BE4-4A66-A24F-14EB97C8B730}" srcId="{6C6118E4-6918-492C-818C-CECAECF71021}" destId="{9BB4FCF2-36B9-49DB-9A82-681337AAC6B9}" srcOrd="15" destOrd="0" parTransId="{00911F2E-FE2A-4759-BDBD-DC7A8AF68205}" sibTransId="{65EF52A7-EDB6-4DDE-86D1-95E65AB1859F}"/>
    <dgm:cxn modelId="{5568E03D-BFCF-43D7-A069-24E56F1FEC6A}" type="presOf" srcId="{88ED2BD4-192D-4873-B66D-865C2923A7FD}" destId="{D5EC251D-3E65-4736-9D54-6D70801876DD}" srcOrd="0" destOrd="0" presId="urn:microsoft.com/office/officeart/2016/7/layout/RepeatingBendingProcessNew"/>
    <dgm:cxn modelId="{427A975B-9BF7-4A80-AD95-A8DEECCF89F4}" type="presOf" srcId="{CDC6DCF1-7B91-48B3-95EE-0897DAA79C8D}" destId="{1F327643-58EC-4908-A281-6C2C37656945}" srcOrd="1" destOrd="0" presId="urn:microsoft.com/office/officeart/2016/7/layout/RepeatingBendingProcessNew"/>
    <dgm:cxn modelId="{2FAD1461-8176-478A-BA20-7D32D1E5DEDE}" srcId="{6C6118E4-6918-492C-818C-CECAECF71021}" destId="{502EF79F-C977-4EAA-B575-BB0B751062FC}" srcOrd="0" destOrd="0" parTransId="{F295FEC4-3D82-45CA-AF46-171EED609D39}" sibTransId="{8EFB8315-4495-445F-993A-5C772E26BA13}"/>
    <dgm:cxn modelId="{DBD90147-37C6-4056-9BD6-7876B6AC754E}" srcId="{6C6118E4-6918-492C-818C-CECAECF71021}" destId="{D66817D6-CF22-4347-83A6-111A204DA494}" srcOrd="6" destOrd="0" parTransId="{C5364D0A-A7F4-4C28-BF91-9217069275EB}" sibTransId="{0A4DA3DB-5AB7-4CBB-9C79-017A4B2E8027}"/>
    <dgm:cxn modelId="{34F00447-20C7-47EA-96FB-4E7D9A00D4BE}" srcId="{6C6118E4-6918-492C-818C-CECAECF71021}" destId="{BAE5599C-89E1-4363-B9E6-4442A8A89615}" srcOrd="7" destOrd="0" parTransId="{185B3B53-EEDB-4DFA-8D1B-4D3D5A8C4E11}" sibTransId="{BFC5B0F3-D075-408C-8BF0-2D6EBABF12B2}"/>
    <dgm:cxn modelId="{E26E1F47-4CBB-4F05-9EF3-F61A5E5CB772}" type="presOf" srcId="{87AE563C-39FB-438A-BC79-75B1C9645A8D}" destId="{2B147A57-1BB8-451B-B903-6E0406A95A8F}" srcOrd="0" destOrd="0" presId="urn:microsoft.com/office/officeart/2016/7/layout/RepeatingBendingProcessNew"/>
    <dgm:cxn modelId="{7799DF67-CEE8-438A-B453-170DF67525C7}" type="presOf" srcId="{12F49F8E-039F-46D6-8872-D2EE1FD4C701}" destId="{B7D67BAE-7CC1-4910-B3A5-ECD40B488BA7}" srcOrd="1" destOrd="0" presId="urn:microsoft.com/office/officeart/2016/7/layout/RepeatingBendingProcessNew"/>
    <dgm:cxn modelId="{E5D61049-8DC0-4687-AD57-6873B6E1217C}" srcId="{6C6118E4-6918-492C-818C-CECAECF71021}" destId="{316D605B-10DF-421E-B18D-EFF7980EB208}" srcOrd="13" destOrd="0" parTransId="{0C121155-9F6A-4FF0-BA27-57618876C1D3}" sibTransId="{2A9E0344-4F70-408E-9602-55AFF7F85904}"/>
    <dgm:cxn modelId="{080A1D6E-BCDA-4856-AFD9-4C92361DDA7C}" type="presOf" srcId="{316D605B-10DF-421E-B18D-EFF7980EB208}" destId="{781CF3AD-616D-4558-91EB-B2CD4E1B61F1}" srcOrd="0" destOrd="0" presId="urn:microsoft.com/office/officeart/2016/7/layout/RepeatingBendingProcessNew"/>
    <dgm:cxn modelId="{62854A6E-8D22-47CC-96F4-DB3D33A92184}" type="presOf" srcId="{8EFB8315-4495-445F-993A-5C772E26BA13}" destId="{982D1046-A738-4D7A-9A69-12A45A129ADA}" srcOrd="1" destOrd="0" presId="urn:microsoft.com/office/officeart/2016/7/layout/RepeatingBendingProcessNew"/>
    <dgm:cxn modelId="{89C41870-E23A-4898-B48F-6B9F4C4D7214}" type="presOf" srcId="{D8D70912-17BB-4916-B37A-E96ADFE31F0F}" destId="{6AC1CDC6-1A17-4A59-990F-48ADDA731EBF}" srcOrd="0" destOrd="0" presId="urn:microsoft.com/office/officeart/2016/7/layout/RepeatingBendingProcessNew"/>
    <dgm:cxn modelId="{FD4D1A52-26F9-457B-9C4C-61D45CDBDF31}" type="presOf" srcId="{502EF79F-C977-4EAA-B575-BB0B751062FC}" destId="{3C09E2B0-0073-4341-A60C-724F48B2EF92}" srcOrd="0" destOrd="0" presId="urn:microsoft.com/office/officeart/2016/7/layout/RepeatingBendingProcessNew"/>
    <dgm:cxn modelId="{DE6C1353-3320-4424-9FF4-E11880171FB0}" type="presOf" srcId="{87AE563C-39FB-438A-BC79-75B1C9645A8D}" destId="{FE8D0801-1759-4BFD-8EB8-B7A6B4796837}" srcOrd="1" destOrd="0" presId="urn:microsoft.com/office/officeart/2016/7/layout/RepeatingBendingProcessNew"/>
    <dgm:cxn modelId="{97510355-D6BF-4C48-9736-B1E3E793ECDA}" srcId="{6C6118E4-6918-492C-818C-CECAECF71021}" destId="{E8544D2B-6E06-4BDF-96BA-253F29A0E47C}" srcOrd="12" destOrd="0" parTransId="{45464EBD-9027-4C3C-A537-440A255D9A7B}" sibTransId="{12F49F8E-039F-46D6-8872-D2EE1FD4C701}"/>
    <dgm:cxn modelId="{8C671178-0328-4520-AEDA-822EF2DF3088}" type="presOf" srcId="{6505DA6B-4BBA-44E5-8FD4-6589E08BAE34}" destId="{FF690A41-D2AB-4716-96DB-EF24E41C3764}" srcOrd="0" destOrd="0" presId="urn:microsoft.com/office/officeart/2016/7/layout/RepeatingBendingProcessNew"/>
    <dgm:cxn modelId="{8C065F59-249B-4A6B-967F-7E3019551668}" type="presOf" srcId="{2A9E0344-4F70-408E-9602-55AFF7F85904}" destId="{29680C1E-FEC1-47A9-809D-80048371DA49}" srcOrd="0" destOrd="0" presId="urn:microsoft.com/office/officeart/2016/7/layout/RepeatingBendingProcessNew"/>
    <dgm:cxn modelId="{FE4FF47B-5296-45C9-A295-47D682C20AA4}" type="presOf" srcId="{515269A2-E947-4509-837F-32F673B8B4AC}" destId="{D5CCB728-1AAB-4005-ABAC-7E63CCCBC25D}" srcOrd="1" destOrd="0" presId="urn:microsoft.com/office/officeart/2016/7/layout/RepeatingBendingProcessNew"/>
    <dgm:cxn modelId="{331F2B85-96BD-4BAF-974C-A77FBB54DD7E}" srcId="{6C6118E4-6918-492C-818C-CECAECF71021}" destId="{598EFF45-17E0-495C-9495-649207EE5FA9}" srcOrd="14" destOrd="0" parTransId="{B67144A1-0153-498B-BBEE-2DEC759C55C3}" sibTransId="{2491DCBE-5397-4079-A8B1-C951F31D905D}"/>
    <dgm:cxn modelId="{05ACDC87-B97C-4983-B48B-A29EB1D8234F}" type="presOf" srcId="{D66817D6-CF22-4347-83A6-111A204DA494}" destId="{DB2E959C-4BA9-4E21-8732-93D577574906}" srcOrd="0" destOrd="0" presId="urn:microsoft.com/office/officeart/2016/7/layout/RepeatingBendingProcessNew"/>
    <dgm:cxn modelId="{06BB348B-167A-465D-A36F-30B1D8DB1896}" type="presOf" srcId="{703A7243-74E1-46D8-B5F9-12FE4887C2BF}" destId="{278F426C-1152-4DC2-806A-F145320F338A}" srcOrd="1" destOrd="0" presId="urn:microsoft.com/office/officeart/2016/7/layout/RepeatingBendingProcessNew"/>
    <dgm:cxn modelId="{5EF8CD99-A32E-4131-BBC9-CFDD2882145C}" type="presOf" srcId="{23D23315-5FBE-4844-93A7-4C89BED50E6E}" destId="{E283BE3F-4780-4E03-9012-EC75714CA795}" srcOrd="0" destOrd="0" presId="urn:microsoft.com/office/officeart/2016/7/layout/RepeatingBendingProcessNew"/>
    <dgm:cxn modelId="{BF4911A6-C30E-43AB-9FE3-7221FF338F21}" type="presOf" srcId="{703A7243-74E1-46D8-B5F9-12FE4887C2BF}" destId="{F79AA501-FF49-4CC2-A447-C393BD4C9F36}" srcOrd="0" destOrd="0" presId="urn:microsoft.com/office/officeart/2016/7/layout/RepeatingBendingProcessNew"/>
    <dgm:cxn modelId="{4C0F13A7-DA78-4948-918E-31DEE4FE1662}" srcId="{6C6118E4-6918-492C-818C-CECAECF71021}" destId="{F1A3CAD9-10A5-4749-B385-3BF926ED7BEF}" srcOrd="2" destOrd="0" parTransId="{A3F4DBC7-F346-48BF-A0EC-ADC71D2C6670}" sibTransId="{515269A2-E947-4509-837F-32F673B8B4AC}"/>
    <dgm:cxn modelId="{02BBD5A7-ACF0-487D-8A49-B80936606018}" srcId="{6C6118E4-6918-492C-818C-CECAECF71021}" destId="{D8D70912-17BB-4916-B37A-E96ADFE31F0F}" srcOrd="4" destOrd="0" parTransId="{1028336C-5958-4DD3-BE71-97C5210805B0}" sibTransId="{E6C15299-6CFD-4953-9958-F96DBC0A534A}"/>
    <dgm:cxn modelId="{970EAFAD-92CB-451B-8511-D867D5C2B3CD}" type="presOf" srcId="{12F49F8E-039F-46D6-8872-D2EE1FD4C701}" destId="{77BE155A-5FB2-425E-8F04-738F4E0AC409}" srcOrd="0" destOrd="0" presId="urn:microsoft.com/office/officeart/2016/7/layout/RepeatingBendingProcessNew"/>
    <dgm:cxn modelId="{4D31BAAF-E1FE-42CE-B142-E892C3F9346C}" type="presOf" srcId="{E6C15299-6CFD-4953-9958-F96DBC0A534A}" destId="{DC6D3200-656B-40BE-95D0-0ACEE9F3A81A}" srcOrd="1" destOrd="0" presId="urn:microsoft.com/office/officeart/2016/7/layout/RepeatingBendingProcessNew"/>
    <dgm:cxn modelId="{7779E5B3-9130-435D-94F7-797EAB44ACCC}" type="presOf" srcId="{B189D3F7-9C5B-4E3B-9D72-1777ED910F5D}" destId="{93FDBFC2-9B7C-4B5F-BC51-80DEA47FF9A4}" srcOrd="0" destOrd="0" presId="urn:microsoft.com/office/officeart/2016/7/layout/RepeatingBendingProcessNew"/>
    <dgm:cxn modelId="{FFAC73B7-EEC3-4853-BA13-EF8236D82296}" type="presOf" srcId="{0A4DA3DB-5AB7-4CBB-9C79-017A4B2E8027}" destId="{E6AD5972-47BB-4B6F-B91D-D7E14A6341DC}" srcOrd="1" destOrd="0" presId="urn:microsoft.com/office/officeart/2016/7/layout/RepeatingBendingProcessNew"/>
    <dgm:cxn modelId="{A21726B8-93C1-4685-8220-6FF57A940EA0}" type="presOf" srcId="{9E4C3AFC-4B0C-48B9-8BDD-6E92C2055842}" destId="{FE9C5685-3ADF-4095-9A1B-3047298C6DB6}" srcOrd="1" destOrd="0" presId="urn:microsoft.com/office/officeart/2016/7/layout/RepeatingBendingProcessNew"/>
    <dgm:cxn modelId="{CEB247B8-694D-45AA-B95F-B8B1CDFDFB02}" type="presOf" srcId="{6ADD2680-F8D7-4AFA-AD09-929D4E141EF4}" destId="{BED226E2-082D-43E0-94F8-5B326FB6572E}" srcOrd="0" destOrd="0" presId="urn:microsoft.com/office/officeart/2016/7/layout/RepeatingBendingProcessNew"/>
    <dgm:cxn modelId="{707A55B9-3537-4D12-B0E0-6589A0225E95}" type="presOf" srcId="{1D884E5B-ED5A-4044-B3ED-FB906B5C523F}" destId="{CF249599-4167-473A-B97D-2CE7ED606D5E}" srcOrd="1" destOrd="0" presId="urn:microsoft.com/office/officeart/2016/7/layout/RepeatingBendingProcessNew"/>
    <dgm:cxn modelId="{B4C012BC-8D88-4B24-84CC-8AD2E3D0AC24}" type="presOf" srcId="{8529BEA2-4120-4B49-83B0-CC546035976B}" destId="{1DD70ADB-BD45-42C1-822C-7D724B779AF1}" srcOrd="1" destOrd="0" presId="urn:microsoft.com/office/officeart/2016/7/layout/RepeatingBendingProcessNew"/>
    <dgm:cxn modelId="{E1B364C6-3E4B-4E11-9A46-7E404F827893}" type="presOf" srcId="{E6C15299-6CFD-4953-9958-F96DBC0A534A}" destId="{89DECFE3-885F-4F91-8AAA-4D1BF3006B3D}" srcOrd="0" destOrd="0" presId="urn:microsoft.com/office/officeart/2016/7/layout/RepeatingBendingProcessNew"/>
    <dgm:cxn modelId="{5D7A04CC-30D9-499F-A111-3BA21CB907CF}" type="presOf" srcId="{1D884E5B-ED5A-4044-B3ED-FB906B5C523F}" destId="{BB9E4828-F095-4411-9839-C79DA80A633E}" srcOrd="0" destOrd="0" presId="urn:microsoft.com/office/officeart/2016/7/layout/RepeatingBendingProcessNew"/>
    <dgm:cxn modelId="{CAA60DCD-658A-40F9-8A07-0F4BD4B2F18A}" type="presOf" srcId="{9E4C3AFC-4B0C-48B9-8BDD-6E92C2055842}" destId="{FFAD2819-979B-4BEC-AE7D-5B3DE07DB11C}" srcOrd="0" destOrd="0" presId="urn:microsoft.com/office/officeart/2016/7/layout/RepeatingBendingProcessNew"/>
    <dgm:cxn modelId="{669024D3-BEE5-4E58-9058-2176044BEA69}" type="presOf" srcId="{E8544D2B-6E06-4BDF-96BA-253F29A0E47C}" destId="{40636632-BD95-436D-9B2F-0EFA629C92E3}" srcOrd="0" destOrd="0" presId="urn:microsoft.com/office/officeart/2016/7/layout/RepeatingBendingProcessNew"/>
    <dgm:cxn modelId="{7567CED4-B4DD-4C27-9CA3-4289A7AC1788}" type="presOf" srcId="{5E464B16-CCE4-404C-AC65-4B48E99AF854}" destId="{977CA2E3-9C78-4918-8576-56D589042E3F}" srcOrd="0" destOrd="0" presId="urn:microsoft.com/office/officeart/2016/7/layout/RepeatingBendingProcessNew"/>
    <dgm:cxn modelId="{A76394D9-95B4-48FD-94EA-95799E434275}" type="presOf" srcId="{0A4DA3DB-5AB7-4CBB-9C79-017A4B2E8027}" destId="{E0BBA632-FDF3-48FA-A650-5334505C0A6D}" srcOrd="0" destOrd="0" presId="urn:microsoft.com/office/officeart/2016/7/layout/RepeatingBendingProcessNew"/>
    <dgm:cxn modelId="{0B0A6BDB-098C-4607-9B06-05F48BA602DF}" type="presOf" srcId="{2491DCBE-5397-4079-A8B1-C951F31D905D}" destId="{3B61CC99-03EC-4B90-AB88-A9F199F01129}" srcOrd="0" destOrd="0" presId="urn:microsoft.com/office/officeart/2016/7/layout/RepeatingBendingProcessNew"/>
    <dgm:cxn modelId="{C5FA10DF-3090-4FF2-B2E1-EC3356744DFF}" srcId="{6C6118E4-6918-492C-818C-CECAECF71021}" destId="{23D23315-5FBE-4844-93A7-4C89BED50E6E}" srcOrd="9" destOrd="0" parTransId="{A2088629-C04A-427C-8F09-82BFDE231AD0}" sibTransId="{703A7243-74E1-46D8-B5F9-12FE4887C2BF}"/>
    <dgm:cxn modelId="{338F83DF-2CAE-4C13-9430-8F4CD9B19F12}" type="presOf" srcId="{B189D3F7-9C5B-4E3B-9D72-1777ED910F5D}" destId="{74898DA5-C360-4F00-8124-7024CB7C30F2}" srcOrd="1" destOrd="0" presId="urn:microsoft.com/office/officeart/2016/7/layout/RepeatingBendingProcessNew"/>
    <dgm:cxn modelId="{9CF18ADF-A6D8-44A9-8CB7-21A2793E5979}" type="presOf" srcId="{99B8B3D0-72F9-4CC0-B90C-868F55E52110}" destId="{B68423C3-7806-4B69-B022-97C225CE9C8C}" srcOrd="0" destOrd="0" presId="urn:microsoft.com/office/officeart/2016/7/layout/RepeatingBendingProcessNew"/>
    <dgm:cxn modelId="{74EDC5E0-CD0C-4038-A1AB-23796FEEB637}" srcId="{6C6118E4-6918-492C-818C-CECAECF71021}" destId="{C1CBBDD6-DA74-4BF7-9EBB-1C06982ABFBF}" srcOrd="1" destOrd="0" parTransId="{55773593-2744-4180-BB4B-950572853824}" sibTransId="{1D884E5B-ED5A-4044-B3ED-FB906B5C523F}"/>
    <dgm:cxn modelId="{30F724E7-28E8-4A27-A918-1A693DF54FC9}" type="presOf" srcId="{C1CBBDD6-DA74-4BF7-9EBB-1C06982ABFBF}" destId="{53556034-F108-41C9-95C6-93E74BC15E8C}" srcOrd="0" destOrd="0" presId="urn:microsoft.com/office/officeart/2016/7/layout/RepeatingBendingProcessNew"/>
    <dgm:cxn modelId="{9AF7DBEE-F10E-4C3B-81A5-BE35CA8FBF7A}" type="presOf" srcId="{BFC5B0F3-D075-408C-8BF0-2D6EBABF12B2}" destId="{8BA09D29-5E3C-495B-AC2F-D8EA71DFAF35}" srcOrd="0" destOrd="0" presId="urn:microsoft.com/office/officeart/2016/7/layout/RepeatingBendingProcessNew"/>
    <dgm:cxn modelId="{C894BEF0-08B5-4F38-9D93-5313806C864E}" type="presOf" srcId="{8529BEA2-4120-4B49-83B0-CC546035976B}" destId="{8AB1DB3A-0A4B-4523-B639-5BEDAB9FFAF8}" srcOrd="0" destOrd="0" presId="urn:microsoft.com/office/officeart/2016/7/layout/RepeatingBendingProcessNew"/>
    <dgm:cxn modelId="{6DDBC6F1-5B58-416A-9849-3982A95E853C}" srcId="{6C6118E4-6918-492C-818C-CECAECF71021}" destId="{88ED2BD4-192D-4873-B66D-865C2923A7FD}" srcOrd="10" destOrd="0" parTransId="{ACDD0590-4AD3-4DE6-9D8D-D56680F91277}" sibTransId="{87AE563C-39FB-438A-BC79-75B1C9645A8D}"/>
    <dgm:cxn modelId="{FD1CFBF1-0B16-471D-A6EC-27D3827F4FE5}" type="presOf" srcId="{9BB4FCF2-36B9-49DB-9A82-681337AAC6B9}" destId="{E8982C2E-F82C-4780-AC99-9C75BF3319E7}" srcOrd="0" destOrd="0" presId="urn:microsoft.com/office/officeart/2016/7/layout/RepeatingBendingProcessNew"/>
    <dgm:cxn modelId="{21829DF8-C28A-453D-92CE-C4DC61024B92}" type="presOf" srcId="{598EFF45-17E0-495C-9495-649207EE5FA9}" destId="{D1E59C8D-DD92-46FA-8417-7F81D3AAEFD6}" srcOrd="0" destOrd="0" presId="urn:microsoft.com/office/officeart/2016/7/layout/RepeatingBendingProcessNew"/>
    <dgm:cxn modelId="{CE021BFA-D101-4E10-AC2D-BEF6137CD4AB}" type="presOf" srcId="{6C6118E4-6918-492C-818C-CECAECF71021}" destId="{849B9C05-D14F-4EBB-9738-7A5F4C636DD1}" srcOrd="0" destOrd="0" presId="urn:microsoft.com/office/officeart/2016/7/layout/RepeatingBendingProcessNew"/>
    <dgm:cxn modelId="{625A62FB-B5C4-4423-81C6-34E16345A192}" type="presOf" srcId="{2A9E0344-4F70-408E-9602-55AFF7F85904}" destId="{8157A2DE-230B-4BF1-9B68-F528EFB8B120}" srcOrd="1" destOrd="0" presId="urn:microsoft.com/office/officeart/2016/7/layout/RepeatingBendingProcessNew"/>
    <dgm:cxn modelId="{C8B1ECFC-21F5-4184-B6EE-DF4917BD8F28}" type="presOf" srcId="{515269A2-E947-4509-837F-32F673B8B4AC}" destId="{9510A962-D98A-41BC-9CE8-6E3CAD5255D8}" srcOrd="0" destOrd="0" presId="urn:microsoft.com/office/officeart/2016/7/layout/RepeatingBendingProcessNew"/>
    <dgm:cxn modelId="{134C80FD-9F30-4319-A577-91D2BD994D71}" type="presOf" srcId="{BAE5599C-89E1-4363-B9E6-4442A8A89615}" destId="{8B01F702-2CD1-4D3F-AA80-1D53275452FA}" srcOrd="0" destOrd="0" presId="urn:microsoft.com/office/officeart/2016/7/layout/RepeatingBendingProcessNew"/>
    <dgm:cxn modelId="{11AA4FFF-4B7A-4488-B012-5528A0DE5102}" srcId="{6C6118E4-6918-492C-818C-CECAECF71021}" destId="{6ADD2680-F8D7-4AFA-AD09-929D4E141EF4}" srcOrd="8" destOrd="0" parTransId="{22D74D8A-EDC6-440B-8C43-A465300E41DA}" sibTransId="{CDC6DCF1-7B91-48B3-95EE-0897DAA79C8D}"/>
    <dgm:cxn modelId="{A27132CB-5CC1-4E52-9566-8FD3BA8C8743}" type="presParOf" srcId="{849B9C05-D14F-4EBB-9738-7A5F4C636DD1}" destId="{3C09E2B0-0073-4341-A60C-724F48B2EF92}" srcOrd="0" destOrd="0" presId="urn:microsoft.com/office/officeart/2016/7/layout/RepeatingBendingProcessNew"/>
    <dgm:cxn modelId="{6E62AFB5-FCB9-4F4A-94CA-05B10F48454E}" type="presParOf" srcId="{849B9C05-D14F-4EBB-9738-7A5F4C636DD1}" destId="{1C773563-BE1F-4629-BBD7-766BBFBFAD4C}" srcOrd="1" destOrd="0" presId="urn:microsoft.com/office/officeart/2016/7/layout/RepeatingBendingProcessNew"/>
    <dgm:cxn modelId="{B3D3077C-E8C9-4766-B32F-6D8AD3E73175}" type="presParOf" srcId="{1C773563-BE1F-4629-BBD7-766BBFBFAD4C}" destId="{982D1046-A738-4D7A-9A69-12A45A129ADA}" srcOrd="0" destOrd="0" presId="urn:microsoft.com/office/officeart/2016/7/layout/RepeatingBendingProcessNew"/>
    <dgm:cxn modelId="{68A5D54B-6B5F-489F-AFF2-C786F11B1C5A}" type="presParOf" srcId="{849B9C05-D14F-4EBB-9738-7A5F4C636DD1}" destId="{53556034-F108-41C9-95C6-93E74BC15E8C}" srcOrd="2" destOrd="0" presId="urn:microsoft.com/office/officeart/2016/7/layout/RepeatingBendingProcessNew"/>
    <dgm:cxn modelId="{4F879AB6-92A6-4856-9BA0-61186513746D}" type="presParOf" srcId="{849B9C05-D14F-4EBB-9738-7A5F4C636DD1}" destId="{BB9E4828-F095-4411-9839-C79DA80A633E}" srcOrd="3" destOrd="0" presId="urn:microsoft.com/office/officeart/2016/7/layout/RepeatingBendingProcessNew"/>
    <dgm:cxn modelId="{3C483469-7660-48AB-8A98-2162F10EF149}" type="presParOf" srcId="{BB9E4828-F095-4411-9839-C79DA80A633E}" destId="{CF249599-4167-473A-B97D-2CE7ED606D5E}" srcOrd="0" destOrd="0" presId="urn:microsoft.com/office/officeart/2016/7/layout/RepeatingBendingProcessNew"/>
    <dgm:cxn modelId="{0D47091B-A18F-4A22-8535-D1DD80D6270F}" type="presParOf" srcId="{849B9C05-D14F-4EBB-9738-7A5F4C636DD1}" destId="{B72354A2-5E2F-4518-AB04-9448EA892788}" srcOrd="4" destOrd="0" presId="urn:microsoft.com/office/officeart/2016/7/layout/RepeatingBendingProcessNew"/>
    <dgm:cxn modelId="{5BB30724-A164-4931-B40C-FA3342B08253}" type="presParOf" srcId="{849B9C05-D14F-4EBB-9738-7A5F4C636DD1}" destId="{9510A962-D98A-41BC-9CE8-6E3CAD5255D8}" srcOrd="5" destOrd="0" presId="urn:microsoft.com/office/officeart/2016/7/layout/RepeatingBendingProcessNew"/>
    <dgm:cxn modelId="{A8E7007E-E4F3-4324-8D6A-9BBF0020B418}" type="presParOf" srcId="{9510A962-D98A-41BC-9CE8-6E3CAD5255D8}" destId="{D5CCB728-1AAB-4005-ABAC-7E63CCCBC25D}" srcOrd="0" destOrd="0" presId="urn:microsoft.com/office/officeart/2016/7/layout/RepeatingBendingProcessNew"/>
    <dgm:cxn modelId="{AAA68F76-5F7A-4472-99C4-4423AA14FC65}" type="presParOf" srcId="{849B9C05-D14F-4EBB-9738-7A5F4C636DD1}" destId="{B68423C3-7806-4B69-B022-97C225CE9C8C}" srcOrd="6" destOrd="0" presId="urn:microsoft.com/office/officeart/2016/7/layout/RepeatingBendingProcessNew"/>
    <dgm:cxn modelId="{23E1B012-DDFF-4B6F-9B63-2B3495CC1E87}" type="presParOf" srcId="{849B9C05-D14F-4EBB-9738-7A5F4C636DD1}" destId="{93FDBFC2-9B7C-4B5F-BC51-80DEA47FF9A4}" srcOrd="7" destOrd="0" presId="urn:microsoft.com/office/officeart/2016/7/layout/RepeatingBendingProcessNew"/>
    <dgm:cxn modelId="{47D9954F-BF7A-4FB2-892F-D9983897E5E0}" type="presParOf" srcId="{93FDBFC2-9B7C-4B5F-BC51-80DEA47FF9A4}" destId="{74898DA5-C360-4F00-8124-7024CB7C30F2}" srcOrd="0" destOrd="0" presId="urn:microsoft.com/office/officeart/2016/7/layout/RepeatingBendingProcessNew"/>
    <dgm:cxn modelId="{BAE0E6E2-1B24-4384-B3BE-AFCF174E99CE}" type="presParOf" srcId="{849B9C05-D14F-4EBB-9738-7A5F4C636DD1}" destId="{6AC1CDC6-1A17-4A59-990F-48ADDA731EBF}" srcOrd="8" destOrd="0" presId="urn:microsoft.com/office/officeart/2016/7/layout/RepeatingBendingProcessNew"/>
    <dgm:cxn modelId="{19077765-73EF-4EFC-BC4D-B82404AF54B8}" type="presParOf" srcId="{849B9C05-D14F-4EBB-9738-7A5F4C636DD1}" destId="{89DECFE3-885F-4F91-8AAA-4D1BF3006B3D}" srcOrd="9" destOrd="0" presId="urn:microsoft.com/office/officeart/2016/7/layout/RepeatingBendingProcessNew"/>
    <dgm:cxn modelId="{30DBF525-6549-4643-BEF4-88373C27ED9C}" type="presParOf" srcId="{89DECFE3-885F-4F91-8AAA-4D1BF3006B3D}" destId="{DC6D3200-656B-40BE-95D0-0ACEE9F3A81A}" srcOrd="0" destOrd="0" presId="urn:microsoft.com/office/officeart/2016/7/layout/RepeatingBendingProcessNew"/>
    <dgm:cxn modelId="{18ABDF1F-5434-4AEA-912D-61D2416BFB8D}" type="presParOf" srcId="{849B9C05-D14F-4EBB-9738-7A5F4C636DD1}" destId="{FF690A41-D2AB-4716-96DB-EF24E41C3764}" srcOrd="10" destOrd="0" presId="urn:microsoft.com/office/officeart/2016/7/layout/RepeatingBendingProcessNew"/>
    <dgm:cxn modelId="{EAF32AB1-0A8F-45E3-A2A5-3A11CCC67BED}" type="presParOf" srcId="{849B9C05-D14F-4EBB-9738-7A5F4C636DD1}" destId="{8AB1DB3A-0A4B-4523-B639-5BEDAB9FFAF8}" srcOrd="11" destOrd="0" presId="urn:microsoft.com/office/officeart/2016/7/layout/RepeatingBendingProcessNew"/>
    <dgm:cxn modelId="{FBB09D1A-EB6E-4D3D-951F-B5CF03CB45A0}" type="presParOf" srcId="{8AB1DB3A-0A4B-4523-B639-5BEDAB9FFAF8}" destId="{1DD70ADB-BD45-42C1-822C-7D724B779AF1}" srcOrd="0" destOrd="0" presId="urn:microsoft.com/office/officeart/2016/7/layout/RepeatingBendingProcessNew"/>
    <dgm:cxn modelId="{12500982-6494-4684-894B-FE53A9D46174}" type="presParOf" srcId="{849B9C05-D14F-4EBB-9738-7A5F4C636DD1}" destId="{DB2E959C-4BA9-4E21-8732-93D577574906}" srcOrd="12" destOrd="0" presId="urn:microsoft.com/office/officeart/2016/7/layout/RepeatingBendingProcessNew"/>
    <dgm:cxn modelId="{297C2CBC-1634-4309-8438-3EB75EC38EAA}" type="presParOf" srcId="{849B9C05-D14F-4EBB-9738-7A5F4C636DD1}" destId="{E0BBA632-FDF3-48FA-A650-5334505C0A6D}" srcOrd="13" destOrd="0" presId="urn:microsoft.com/office/officeart/2016/7/layout/RepeatingBendingProcessNew"/>
    <dgm:cxn modelId="{2F11BAF3-282A-4BCE-9C5E-58866713F4D7}" type="presParOf" srcId="{E0BBA632-FDF3-48FA-A650-5334505C0A6D}" destId="{E6AD5972-47BB-4B6F-B91D-D7E14A6341DC}" srcOrd="0" destOrd="0" presId="urn:microsoft.com/office/officeart/2016/7/layout/RepeatingBendingProcessNew"/>
    <dgm:cxn modelId="{900D6B4B-58CF-4D1B-B45D-309D6C2AA7D4}" type="presParOf" srcId="{849B9C05-D14F-4EBB-9738-7A5F4C636DD1}" destId="{8B01F702-2CD1-4D3F-AA80-1D53275452FA}" srcOrd="14" destOrd="0" presId="urn:microsoft.com/office/officeart/2016/7/layout/RepeatingBendingProcessNew"/>
    <dgm:cxn modelId="{4CDEAAD2-AF81-466F-B44F-B03296579060}" type="presParOf" srcId="{849B9C05-D14F-4EBB-9738-7A5F4C636DD1}" destId="{8BA09D29-5E3C-495B-AC2F-D8EA71DFAF35}" srcOrd="15" destOrd="0" presId="urn:microsoft.com/office/officeart/2016/7/layout/RepeatingBendingProcessNew"/>
    <dgm:cxn modelId="{E8116507-19E2-49AB-8BB3-723FDBBE1FEA}" type="presParOf" srcId="{8BA09D29-5E3C-495B-AC2F-D8EA71DFAF35}" destId="{65B0FF42-B98F-4DE3-AA17-8E11251BDC55}" srcOrd="0" destOrd="0" presId="urn:microsoft.com/office/officeart/2016/7/layout/RepeatingBendingProcessNew"/>
    <dgm:cxn modelId="{F96A573E-2AD3-4795-8903-ABAC86CABFF0}" type="presParOf" srcId="{849B9C05-D14F-4EBB-9738-7A5F4C636DD1}" destId="{BED226E2-082D-43E0-94F8-5B326FB6572E}" srcOrd="16" destOrd="0" presId="urn:microsoft.com/office/officeart/2016/7/layout/RepeatingBendingProcessNew"/>
    <dgm:cxn modelId="{20BE43C4-0410-440B-AC09-23DEEC109BFB}" type="presParOf" srcId="{849B9C05-D14F-4EBB-9738-7A5F4C636DD1}" destId="{C451D691-4656-4298-B429-7F86DD8B56B5}" srcOrd="17" destOrd="0" presId="urn:microsoft.com/office/officeart/2016/7/layout/RepeatingBendingProcessNew"/>
    <dgm:cxn modelId="{D5DB6264-1913-49F1-8F83-FA40581D06CD}" type="presParOf" srcId="{C451D691-4656-4298-B429-7F86DD8B56B5}" destId="{1F327643-58EC-4908-A281-6C2C37656945}" srcOrd="0" destOrd="0" presId="urn:microsoft.com/office/officeart/2016/7/layout/RepeatingBendingProcessNew"/>
    <dgm:cxn modelId="{78AAC68A-C43B-41C6-9684-514CCEBB3647}" type="presParOf" srcId="{849B9C05-D14F-4EBB-9738-7A5F4C636DD1}" destId="{E283BE3F-4780-4E03-9012-EC75714CA795}" srcOrd="18" destOrd="0" presId="urn:microsoft.com/office/officeart/2016/7/layout/RepeatingBendingProcessNew"/>
    <dgm:cxn modelId="{EF580FEB-BCAB-4088-9BB7-16E20852F3D6}" type="presParOf" srcId="{849B9C05-D14F-4EBB-9738-7A5F4C636DD1}" destId="{F79AA501-FF49-4CC2-A447-C393BD4C9F36}" srcOrd="19" destOrd="0" presId="urn:microsoft.com/office/officeart/2016/7/layout/RepeatingBendingProcessNew"/>
    <dgm:cxn modelId="{276FBB56-CDA3-4121-8FC1-D539A76DF880}" type="presParOf" srcId="{F79AA501-FF49-4CC2-A447-C393BD4C9F36}" destId="{278F426C-1152-4DC2-806A-F145320F338A}" srcOrd="0" destOrd="0" presId="urn:microsoft.com/office/officeart/2016/7/layout/RepeatingBendingProcessNew"/>
    <dgm:cxn modelId="{3523C705-2C8F-4975-8ACE-0E260E1ACBF8}" type="presParOf" srcId="{849B9C05-D14F-4EBB-9738-7A5F4C636DD1}" destId="{D5EC251D-3E65-4736-9D54-6D70801876DD}" srcOrd="20" destOrd="0" presId="urn:microsoft.com/office/officeart/2016/7/layout/RepeatingBendingProcessNew"/>
    <dgm:cxn modelId="{D7D3E397-0774-43B7-BE62-CA17ADD17920}" type="presParOf" srcId="{849B9C05-D14F-4EBB-9738-7A5F4C636DD1}" destId="{2B147A57-1BB8-451B-B903-6E0406A95A8F}" srcOrd="21" destOrd="0" presId="urn:microsoft.com/office/officeart/2016/7/layout/RepeatingBendingProcessNew"/>
    <dgm:cxn modelId="{0FE07CF1-80B4-4E94-85E3-0B4405BC3455}" type="presParOf" srcId="{2B147A57-1BB8-451B-B903-6E0406A95A8F}" destId="{FE8D0801-1759-4BFD-8EB8-B7A6B4796837}" srcOrd="0" destOrd="0" presId="urn:microsoft.com/office/officeart/2016/7/layout/RepeatingBendingProcessNew"/>
    <dgm:cxn modelId="{7C6265E9-8E11-41EC-AF93-DEC459D9A4D8}" type="presParOf" srcId="{849B9C05-D14F-4EBB-9738-7A5F4C636DD1}" destId="{977CA2E3-9C78-4918-8576-56D589042E3F}" srcOrd="22" destOrd="0" presId="urn:microsoft.com/office/officeart/2016/7/layout/RepeatingBendingProcessNew"/>
    <dgm:cxn modelId="{2C6C4E1C-1D17-42A0-96DE-8465216966B2}" type="presParOf" srcId="{849B9C05-D14F-4EBB-9738-7A5F4C636DD1}" destId="{FFAD2819-979B-4BEC-AE7D-5B3DE07DB11C}" srcOrd="23" destOrd="0" presId="urn:microsoft.com/office/officeart/2016/7/layout/RepeatingBendingProcessNew"/>
    <dgm:cxn modelId="{47F0FDFD-314A-4627-A241-41566F1D8490}" type="presParOf" srcId="{FFAD2819-979B-4BEC-AE7D-5B3DE07DB11C}" destId="{FE9C5685-3ADF-4095-9A1B-3047298C6DB6}" srcOrd="0" destOrd="0" presId="urn:microsoft.com/office/officeart/2016/7/layout/RepeatingBendingProcessNew"/>
    <dgm:cxn modelId="{60BCAF70-9835-43BB-9B78-17D82098F987}" type="presParOf" srcId="{849B9C05-D14F-4EBB-9738-7A5F4C636DD1}" destId="{40636632-BD95-436D-9B2F-0EFA629C92E3}" srcOrd="24" destOrd="0" presId="urn:microsoft.com/office/officeart/2016/7/layout/RepeatingBendingProcessNew"/>
    <dgm:cxn modelId="{AE1D8304-7DE6-47B0-884A-AB49EDC1FA2F}" type="presParOf" srcId="{849B9C05-D14F-4EBB-9738-7A5F4C636DD1}" destId="{77BE155A-5FB2-425E-8F04-738F4E0AC409}" srcOrd="25" destOrd="0" presId="urn:microsoft.com/office/officeart/2016/7/layout/RepeatingBendingProcessNew"/>
    <dgm:cxn modelId="{CABE3FFF-150C-4AE1-8577-93AEA86D3CB9}" type="presParOf" srcId="{77BE155A-5FB2-425E-8F04-738F4E0AC409}" destId="{B7D67BAE-7CC1-4910-B3A5-ECD40B488BA7}" srcOrd="0" destOrd="0" presId="urn:microsoft.com/office/officeart/2016/7/layout/RepeatingBendingProcessNew"/>
    <dgm:cxn modelId="{6FF00D28-DC16-49DB-B9DB-C04B933D2B6F}" type="presParOf" srcId="{849B9C05-D14F-4EBB-9738-7A5F4C636DD1}" destId="{781CF3AD-616D-4558-91EB-B2CD4E1B61F1}" srcOrd="26" destOrd="0" presId="urn:microsoft.com/office/officeart/2016/7/layout/RepeatingBendingProcessNew"/>
    <dgm:cxn modelId="{0ACAFFAC-D68F-4112-BBC2-ACFD8D2CB086}" type="presParOf" srcId="{849B9C05-D14F-4EBB-9738-7A5F4C636DD1}" destId="{29680C1E-FEC1-47A9-809D-80048371DA49}" srcOrd="27" destOrd="0" presId="urn:microsoft.com/office/officeart/2016/7/layout/RepeatingBendingProcessNew"/>
    <dgm:cxn modelId="{E0F5D992-FE27-4025-9833-9AD1276E9B86}" type="presParOf" srcId="{29680C1E-FEC1-47A9-809D-80048371DA49}" destId="{8157A2DE-230B-4BF1-9B68-F528EFB8B120}" srcOrd="0" destOrd="0" presId="urn:microsoft.com/office/officeart/2016/7/layout/RepeatingBendingProcessNew"/>
    <dgm:cxn modelId="{50B58BB8-DB39-4804-B244-E2162316F921}" type="presParOf" srcId="{849B9C05-D14F-4EBB-9738-7A5F4C636DD1}" destId="{D1E59C8D-DD92-46FA-8417-7F81D3AAEFD6}" srcOrd="28" destOrd="0" presId="urn:microsoft.com/office/officeart/2016/7/layout/RepeatingBendingProcessNew"/>
    <dgm:cxn modelId="{C137B9A8-E31C-4193-9B83-43E7578CAF5A}" type="presParOf" srcId="{849B9C05-D14F-4EBB-9738-7A5F4C636DD1}" destId="{3B61CC99-03EC-4B90-AB88-A9F199F01129}" srcOrd="29" destOrd="0" presId="urn:microsoft.com/office/officeart/2016/7/layout/RepeatingBendingProcessNew"/>
    <dgm:cxn modelId="{79E86328-0459-43E0-B897-6973FDD9C9B3}" type="presParOf" srcId="{3B61CC99-03EC-4B90-AB88-A9F199F01129}" destId="{7AF34EBE-FDE3-4201-BA16-39AAE64EB1EF}" srcOrd="0" destOrd="0" presId="urn:microsoft.com/office/officeart/2016/7/layout/RepeatingBendingProcessNew"/>
    <dgm:cxn modelId="{D6446A2F-5C46-4E1B-8D9C-8F95D6E97DAA}" type="presParOf" srcId="{849B9C05-D14F-4EBB-9738-7A5F4C636DD1}" destId="{E8982C2E-F82C-4780-AC99-9C75BF3319E7}" srcOrd="3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773563-BE1F-4629-BBD7-766BBFBFAD4C}">
      <dsp:nvSpPr>
        <dsp:cNvPr id="0" name=""/>
        <dsp:cNvSpPr/>
      </dsp:nvSpPr>
      <dsp:spPr>
        <a:xfrm>
          <a:off x="1516727" y="910082"/>
          <a:ext cx="316778" cy="91440"/>
        </a:xfrm>
        <a:custGeom>
          <a:avLst/>
          <a:gdLst/>
          <a:ahLst/>
          <a:cxnLst/>
          <a:rect l="0" t="0" r="0" b="0"/>
          <a:pathLst>
            <a:path>
              <a:moveTo>
                <a:pt x="0" y="45720"/>
              </a:moveTo>
              <a:lnTo>
                <a:pt x="316778"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66432" y="954065"/>
        <a:ext cx="17368" cy="3473"/>
      </dsp:txXfrm>
    </dsp:sp>
    <dsp:sp modelId="{3C09E2B0-0073-4341-A60C-724F48B2EF92}">
      <dsp:nvSpPr>
        <dsp:cNvPr id="0" name=""/>
        <dsp:cNvSpPr/>
      </dsp:nvSpPr>
      <dsp:spPr>
        <a:xfrm>
          <a:off x="8185" y="502699"/>
          <a:ext cx="1510342" cy="906205"/>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008" tIns="77684" rIns="74008" bIns="77684" numCol="1" spcCol="1270" anchor="ctr" anchorCtr="0">
          <a:noAutofit/>
        </a:bodyPr>
        <a:lstStyle/>
        <a:p>
          <a:pPr marL="0" lvl="0" indent="0" algn="ctr" defTabSz="577850">
            <a:lnSpc>
              <a:spcPct val="90000"/>
            </a:lnSpc>
            <a:spcBef>
              <a:spcPct val="0"/>
            </a:spcBef>
            <a:spcAft>
              <a:spcPct val="35000"/>
            </a:spcAft>
            <a:buNone/>
          </a:pPr>
          <a:r>
            <a:rPr lang="en-IN" sz="1300" b="1" u="sng" kern="1200"/>
            <a:t>Data Import</a:t>
          </a:r>
          <a:endParaRPr lang="en-US" sz="1300" kern="1200"/>
        </a:p>
      </dsp:txBody>
      <dsp:txXfrm>
        <a:off x="8185" y="502699"/>
        <a:ext cx="1510342" cy="906205"/>
      </dsp:txXfrm>
    </dsp:sp>
    <dsp:sp modelId="{BB9E4828-F095-4411-9839-C79DA80A633E}">
      <dsp:nvSpPr>
        <dsp:cNvPr id="0" name=""/>
        <dsp:cNvSpPr/>
      </dsp:nvSpPr>
      <dsp:spPr>
        <a:xfrm>
          <a:off x="3374449" y="910082"/>
          <a:ext cx="316778" cy="91440"/>
        </a:xfrm>
        <a:custGeom>
          <a:avLst/>
          <a:gdLst/>
          <a:ahLst/>
          <a:cxnLst/>
          <a:rect l="0" t="0" r="0" b="0"/>
          <a:pathLst>
            <a:path>
              <a:moveTo>
                <a:pt x="0" y="45720"/>
              </a:moveTo>
              <a:lnTo>
                <a:pt x="316778" y="45720"/>
              </a:lnTo>
            </a:path>
          </a:pathLst>
        </a:custGeom>
        <a:noFill/>
        <a:ln w="9525" cap="flat" cmpd="sng" algn="ctr">
          <a:solidFill>
            <a:schemeClr val="accent2">
              <a:hueOff val="334394"/>
              <a:satOff val="-417"/>
              <a:lumOff val="98"/>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24154" y="954065"/>
        <a:ext cx="17368" cy="3473"/>
      </dsp:txXfrm>
    </dsp:sp>
    <dsp:sp modelId="{53556034-F108-41C9-95C6-93E74BC15E8C}">
      <dsp:nvSpPr>
        <dsp:cNvPr id="0" name=""/>
        <dsp:cNvSpPr/>
      </dsp:nvSpPr>
      <dsp:spPr>
        <a:xfrm>
          <a:off x="1865906" y="502699"/>
          <a:ext cx="1510342" cy="906205"/>
        </a:xfrm>
        <a:prstGeom prst="rect">
          <a:avLst/>
        </a:prstGeom>
        <a:solidFill>
          <a:schemeClr val="accent2">
            <a:hueOff val="312101"/>
            <a:satOff val="-389"/>
            <a:lumOff val="9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008" tIns="77684" rIns="74008" bIns="77684" numCol="1" spcCol="1270" anchor="ctr" anchorCtr="0">
          <a:noAutofit/>
        </a:bodyPr>
        <a:lstStyle/>
        <a:p>
          <a:pPr marL="0" lvl="0" indent="0" algn="ctr" defTabSz="577850">
            <a:lnSpc>
              <a:spcPct val="90000"/>
            </a:lnSpc>
            <a:spcBef>
              <a:spcPct val="0"/>
            </a:spcBef>
            <a:spcAft>
              <a:spcPct val="35000"/>
            </a:spcAft>
            <a:buNone/>
          </a:pPr>
          <a:r>
            <a:rPr lang="en-IN" sz="1300" kern="1200"/>
            <a:t>Imported the Employee Attrition CSV dataset into Tableau. </a:t>
          </a:r>
          <a:endParaRPr lang="en-US" sz="1300" kern="1200"/>
        </a:p>
      </dsp:txBody>
      <dsp:txXfrm>
        <a:off x="1865906" y="502699"/>
        <a:ext cx="1510342" cy="906205"/>
      </dsp:txXfrm>
    </dsp:sp>
    <dsp:sp modelId="{9510A962-D98A-41BC-9CE8-6E3CAD5255D8}">
      <dsp:nvSpPr>
        <dsp:cNvPr id="0" name=""/>
        <dsp:cNvSpPr/>
      </dsp:nvSpPr>
      <dsp:spPr>
        <a:xfrm>
          <a:off x="5232170" y="910082"/>
          <a:ext cx="316778" cy="91440"/>
        </a:xfrm>
        <a:custGeom>
          <a:avLst/>
          <a:gdLst/>
          <a:ahLst/>
          <a:cxnLst/>
          <a:rect l="0" t="0" r="0" b="0"/>
          <a:pathLst>
            <a:path>
              <a:moveTo>
                <a:pt x="0" y="45720"/>
              </a:moveTo>
              <a:lnTo>
                <a:pt x="316778" y="45720"/>
              </a:lnTo>
            </a:path>
          </a:pathLst>
        </a:custGeom>
        <a:noFill/>
        <a:ln w="9525" cap="flat" cmpd="sng" algn="ctr">
          <a:solidFill>
            <a:schemeClr val="accent2">
              <a:hueOff val="668788"/>
              <a:satOff val="-834"/>
              <a:lumOff val="196"/>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81875" y="954065"/>
        <a:ext cx="17368" cy="3473"/>
      </dsp:txXfrm>
    </dsp:sp>
    <dsp:sp modelId="{B72354A2-5E2F-4518-AB04-9448EA892788}">
      <dsp:nvSpPr>
        <dsp:cNvPr id="0" name=""/>
        <dsp:cNvSpPr/>
      </dsp:nvSpPr>
      <dsp:spPr>
        <a:xfrm>
          <a:off x="3723628" y="502699"/>
          <a:ext cx="1510342" cy="906205"/>
        </a:xfrm>
        <a:prstGeom prst="rect">
          <a:avLst/>
        </a:prstGeom>
        <a:solidFill>
          <a:schemeClr val="accent2">
            <a:hueOff val="624203"/>
            <a:satOff val="-779"/>
            <a:lumOff val="18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008" tIns="77684" rIns="74008" bIns="77684" numCol="1" spcCol="1270" anchor="ctr" anchorCtr="0">
          <a:noAutofit/>
        </a:bodyPr>
        <a:lstStyle/>
        <a:p>
          <a:pPr marL="0" lvl="0" indent="0" algn="ctr" defTabSz="577850">
            <a:lnSpc>
              <a:spcPct val="90000"/>
            </a:lnSpc>
            <a:spcBef>
              <a:spcPct val="0"/>
            </a:spcBef>
            <a:spcAft>
              <a:spcPct val="35000"/>
            </a:spcAft>
            <a:buNone/>
          </a:pPr>
          <a:r>
            <a:rPr lang="en-IN" sz="1300" kern="1200"/>
            <a:t>Verified the dataset structure and field names. </a:t>
          </a:r>
          <a:endParaRPr lang="en-US" sz="1300" kern="1200"/>
        </a:p>
      </dsp:txBody>
      <dsp:txXfrm>
        <a:off x="3723628" y="502699"/>
        <a:ext cx="1510342" cy="906205"/>
      </dsp:txXfrm>
    </dsp:sp>
    <dsp:sp modelId="{93FDBFC2-9B7C-4B5F-BC51-80DEA47FF9A4}">
      <dsp:nvSpPr>
        <dsp:cNvPr id="0" name=""/>
        <dsp:cNvSpPr/>
      </dsp:nvSpPr>
      <dsp:spPr>
        <a:xfrm>
          <a:off x="7089891" y="910082"/>
          <a:ext cx="316778" cy="91440"/>
        </a:xfrm>
        <a:custGeom>
          <a:avLst/>
          <a:gdLst/>
          <a:ahLst/>
          <a:cxnLst/>
          <a:rect l="0" t="0" r="0" b="0"/>
          <a:pathLst>
            <a:path>
              <a:moveTo>
                <a:pt x="0" y="45720"/>
              </a:moveTo>
              <a:lnTo>
                <a:pt x="316778" y="45720"/>
              </a:lnTo>
            </a:path>
          </a:pathLst>
        </a:custGeom>
        <a:noFill/>
        <a:ln w="9525" cap="flat" cmpd="sng" algn="ctr">
          <a:solidFill>
            <a:schemeClr val="accent2">
              <a:hueOff val="1003183"/>
              <a:satOff val="-1251"/>
              <a:lumOff val="294"/>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239596" y="954065"/>
        <a:ext cx="17368" cy="3473"/>
      </dsp:txXfrm>
    </dsp:sp>
    <dsp:sp modelId="{B68423C3-7806-4B69-B022-97C225CE9C8C}">
      <dsp:nvSpPr>
        <dsp:cNvPr id="0" name=""/>
        <dsp:cNvSpPr/>
      </dsp:nvSpPr>
      <dsp:spPr>
        <a:xfrm>
          <a:off x="5581349" y="502699"/>
          <a:ext cx="1510342" cy="906205"/>
        </a:xfrm>
        <a:prstGeom prst="rect">
          <a:avLst/>
        </a:prstGeom>
        <a:solidFill>
          <a:schemeClr val="accent2">
            <a:hueOff val="936304"/>
            <a:satOff val="-1168"/>
            <a:lumOff val="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008" tIns="77684" rIns="74008" bIns="77684" numCol="1" spcCol="1270" anchor="ctr" anchorCtr="0">
          <a:noAutofit/>
        </a:bodyPr>
        <a:lstStyle/>
        <a:p>
          <a:pPr marL="0" lvl="0" indent="0" algn="ctr" defTabSz="577850">
            <a:lnSpc>
              <a:spcPct val="90000"/>
            </a:lnSpc>
            <a:spcBef>
              <a:spcPct val="0"/>
            </a:spcBef>
            <a:spcAft>
              <a:spcPct val="35000"/>
            </a:spcAft>
            <a:buNone/>
          </a:pPr>
          <a:r>
            <a:rPr lang="en-IN" sz="1300" b="1" u="sng" kern="1200"/>
            <a:t>Data Cleaning</a:t>
          </a:r>
          <a:endParaRPr lang="en-US" sz="1300" kern="1200"/>
        </a:p>
      </dsp:txBody>
      <dsp:txXfrm>
        <a:off x="5581349" y="502699"/>
        <a:ext cx="1510342" cy="906205"/>
      </dsp:txXfrm>
    </dsp:sp>
    <dsp:sp modelId="{89DECFE3-885F-4F91-8AAA-4D1BF3006B3D}">
      <dsp:nvSpPr>
        <dsp:cNvPr id="0" name=""/>
        <dsp:cNvSpPr/>
      </dsp:nvSpPr>
      <dsp:spPr>
        <a:xfrm>
          <a:off x="8947613" y="910082"/>
          <a:ext cx="316778" cy="91440"/>
        </a:xfrm>
        <a:custGeom>
          <a:avLst/>
          <a:gdLst/>
          <a:ahLst/>
          <a:cxnLst/>
          <a:rect l="0" t="0" r="0" b="0"/>
          <a:pathLst>
            <a:path>
              <a:moveTo>
                <a:pt x="0" y="45720"/>
              </a:moveTo>
              <a:lnTo>
                <a:pt x="316778" y="45720"/>
              </a:lnTo>
            </a:path>
          </a:pathLst>
        </a:custGeom>
        <a:noFill/>
        <a:ln w="9525" cap="flat" cmpd="sng" algn="ctr">
          <a:solidFill>
            <a:schemeClr val="accent2">
              <a:hueOff val="1337577"/>
              <a:satOff val="-1668"/>
              <a:lumOff val="392"/>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9097318" y="954065"/>
        <a:ext cx="17368" cy="3473"/>
      </dsp:txXfrm>
    </dsp:sp>
    <dsp:sp modelId="{6AC1CDC6-1A17-4A59-990F-48ADDA731EBF}">
      <dsp:nvSpPr>
        <dsp:cNvPr id="0" name=""/>
        <dsp:cNvSpPr/>
      </dsp:nvSpPr>
      <dsp:spPr>
        <a:xfrm>
          <a:off x="7439070" y="502699"/>
          <a:ext cx="1510342" cy="906205"/>
        </a:xfrm>
        <a:prstGeom prst="rect">
          <a:avLst/>
        </a:prstGeom>
        <a:solidFill>
          <a:schemeClr val="accent2">
            <a:hueOff val="1248405"/>
            <a:satOff val="-1557"/>
            <a:lumOff val="36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008" tIns="77684" rIns="74008" bIns="77684" numCol="1" spcCol="1270" anchor="ctr" anchorCtr="0">
          <a:noAutofit/>
        </a:bodyPr>
        <a:lstStyle/>
        <a:p>
          <a:pPr marL="0" lvl="0" indent="0" algn="ctr" defTabSz="577850">
            <a:lnSpc>
              <a:spcPct val="90000"/>
            </a:lnSpc>
            <a:spcBef>
              <a:spcPct val="0"/>
            </a:spcBef>
            <a:spcAft>
              <a:spcPct val="35000"/>
            </a:spcAft>
            <a:buNone/>
          </a:pPr>
          <a:r>
            <a:rPr lang="en-IN" sz="1300" kern="1200"/>
            <a:t>Checked for missing or null values. </a:t>
          </a:r>
          <a:endParaRPr lang="en-US" sz="1300" kern="1200"/>
        </a:p>
      </dsp:txBody>
      <dsp:txXfrm>
        <a:off x="7439070" y="502699"/>
        <a:ext cx="1510342" cy="906205"/>
      </dsp:txXfrm>
    </dsp:sp>
    <dsp:sp modelId="{8AB1DB3A-0A4B-4523-B639-5BEDAB9FFAF8}">
      <dsp:nvSpPr>
        <dsp:cNvPr id="0" name=""/>
        <dsp:cNvSpPr/>
      </dsp:nvSpPr>
      <dsp:spPr>
        <a:xfrm>
          <a:off x="763356" y="1407105"/>
          <a:ext cx="9288606" cy="316778"/>
        </a:xfrm>
        <a:custGeom>
          <a:avLst/>
          <a:gdLst/>
          <a:ahLst/>
          <a:cxnLst/>
          <a:rect l="0" t="0" r="0" b="0"/>
          <a:pathLst>
            <a:path>
              <a:moveTo>
                <a:pt x="9288606" y="0"/>
              </a:moveTo>
              <a:lnTo>
                <a:pt x="9288606" y="175489"/>
              </a:lnTo>
              <a:lnTo>
                <a:pt x="0" y="175489"/>
              </a:lnTo>
              <a:lnTo>
                <a:pt x="0" y="316778"/>
              </a:lnTo>
            </a:path>
          </a:pathLst>
        </a:custGeom>
        <a:noFill/>
        <a:ln w="9525" cap="flat" cmpd="sng" algn="ctr">
          <a:solidFill>
            <a:schemeClr val="accent2">
              <a:hueOff val="1671971"/>
              <a:satOff val="-2085"/>
              <a:lumOff val="49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75282" y="1563757"/>
        <a:ext cx="464755" cy="3473"/>
      </dsp:txXfrm>
    </dsp:sp>
    <dsp:sp modelId="{FF690A41-D2AB-4716-96DB-EF24E41C3764}">
      <dsp:nvSpPr>
        <dsp:cNvPr id="0" name=""/>
        <dsp:cNvSpPr/>
      </dsp:nvSpPr>
      <dsp:spPr>
        <a:xfrm>
          <a:off x="9296792" y="502699"/>
          <a:ext cx="1510342" cy="906205"/>
        </a:xfrm>
        <a:prstGeom prst="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008" tIns="77684" rIns="74008" bIns="77684" numCol="1" spcCol="1270" anchor="ctr" anchorCtr="0">
          <a:noAutofit/>
        </a:bodyPr>
        <a:lstStyle/>
        <a:p>
          <a:pPr marL="0" lvl="0" indent="0" algn="ctr" defTabSz="577850">
            <a:lnSpc>
              <a:spcPct val="90000"/>
            </a:lnSpc>
            <a:spcBef>
              <a:spcPct val="0"/>
            </a:spcBef>
            <a:spcAft>
              <a:spcPct val="35000"/>
            </a:spcAft>
            <a:buNone/>
          </a:pPr>
          <a:r>
            <a:rPr lang="en-IN" sz="1300" kern="1200"/>
            <a:t>Verified and corrected data types (Dimensions and Measures). </a:t>
          </a:r>
          <a:endParaRPr lang="en-US" sz="1300" kern="1200"/>
        </a:p>
      </dsp:txBody>
      <dsp:txXfrm>
        <a:off x="9296792" y="502699"/>
        <a:ext cx="1510342" cy="906205"/>
      </dsp:txXfrm>
    </dsp:sp>
    <dsp:sp modelId="{E0BBA632-FDF3-48FA-A650-5334505C0A6D}">
      <dsp:nvSpPr>
        <dsp:cNvPr id="0" name=""/>
        <dsp:cNvSpPr/>
      </dsp:nvSpPr>
      <dsp:spPr>
        <a:xfrm>
          <a:off x="1516727" y="2163666"/>
          <a:ext cx="316778" cy="91440"/>
        </a:xfrm>
        <a:custGeom>
          <a:avLst/>
          <a:gdLst/>
          <a:ahLst/>
          <a:cxnLst/>
          <a:rect l="0" t="0" r="0" b="0"/>
          <a:pathLst>
            <a:path>
              <a:moveTo>
                <a:pt x="0" y="45720"/>
              </a:moveTo>
              <a:lnTo>
                <a:pt x="316778" y="45720"/>
              </a:lnTo>
            </a:path>
          </a:pathLst>
        </a:custGeom>
        <a:noFill/>
        <a:ln w="9525" cap="flat" cmpd="sng" algn="ctr">
          <a:solidFill>
            <a:schemeClr val="accent2">
              <a:hueOff val="2006365"/>
              <a:satOff val="-2502"/>
              <a:lumOff val="588"/>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66432" y="2207650"/>
        <a:ext cx="17368" cy="3473"/>
      </dsp:txXfrm>
    </dsp:sp>
    <dsp:sp modelId="{DB2E959C-4BA9-4E21-8732-93D577574906}">
      <dsp:nvSpPr>
        <dsp:cNvPr id="0" name=""/>
        <dsp:cNvSpPr/>
      </dsp:nvSpPr>
      <dsp:spPr>
        <a:xfrm>
          <a:off x="8185" y="1756284"/>
          <a:ext cx="1510342" cy="906205"/>
        </a:xfrm>
        <a:prstGeom prst="rect">
          <a:avLst/>
        </a:prstGeom>
        <a:solidFill>
          <a:schemeClr val="accent2">
            <a:hueOff val="1872608"/>
            <a:satOff val="-2336"/>
            <a:lumOff val="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008" tIns="77684" rIns="74008" bIns="77684" numCol="1" spcCol="1270" anchor="ctr" anchorCtr="0">
          <a:noAutofit/>
        </a:bodyPr>
        <a:lstStyle/>
        <a:p>
          <a:pPr marL="0" lvl="0" indent="0" algn="ctr" defTabSz="577850">
            <a:lnSpc>
              <a:spcPct val="90000"/>
            </a:lnSpc>
            <a:spcBef>
              <a:spcPct val="0"/>
            </a:spcBef>
            <a:spcAft>
              <a:spcPct val="35000"/>
            </a:spcAft>
            <a:buNone/>
          </a:pPr>
          <a:r>
            <a:rPr lang="en-IN" sz="1300" kern="1200"/>
            <a:t>Removed duplicate records (if any). </a:t>
          </a:r>
          <a:endParaRPr lang="en-US" sz="1300" kern="1200"/>
        </a:p>
      </dsp:txBody>
      <dsp:txXfrm>
        <a:off x="8185" y="1756284"/>
        <a:ext cx="1510342" cy="906205"/>
      </dsp:txXfrm>
    </dsp:sp>
    <dsp:sp modelId="{8BA09D29-5E3C-495B-AC2F-D8EA71DFAF35}">
      <dsp:nvSpPr>
        <dsp:cNvPr id="0" name=""/>
        <dsp:cNvSpPr/>
      </dsp:nvSpPr>
      <dsp:spPr>
        <a:xfrm>
          <a:off x="3374449" y="2163666"/>
          <a:ext cx="316778" cy="91440"/>
        </a:xfrm>
        <a:custGeom>
          <a:avLst/>
          <a:gdLst/>
          <a:ahLst/>
          <a:cxnLst/>
          <a:rect l="0" t="0" r="0" b="0"/>
          <a:pathLst>
            <a:path>
              <a:moveTo>
                <a:pt x="0" y="45720"/>
              </a:moveTo>
              <a:lnTo>
                <a:pt x="316778" y="45720"/>
              </a:lnTo>
            </a:path>
          </a:pathLst>
        </a:custGeom>
        <a:noFill/>
        <a:ln w="9525" cap="flat" cmpd="sng" algn="ctr">
          <a:solidFill>
            <a:schemeClr val="accent2">
              <a:hueOff val="2340759"/>
              <a:satOff val="-2919"/>
              <a:lumOff val="686"/>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24154" y="2207650"/>
        <a:ext cx="17368" cy="3473"/>
      </dsp:txXfrm>
    </dsp:sp>
    <dsp:sp modelId="{8B01F702-2CD1-4D3F-AA80-1D53275452FA}">
      <dsp:nvSpPr>
        <dsp:cNvPr id="0" name=""/>
        <dsp:cNvSpPr/>
      </dsp:nvSpPr>
      <dsp:spPr>
        <a:xfrm>
          <a:off x="1865906" y="1756284"/>
          <a:ext cx="1510342" cy="906205"/>
        </a:xfrm>
        <a:prstGeom prst="rect">
          <a:avLst/>
        </a:prstGeom>
        <a:solidFill>
          <a:schemeClr val="accent2">
            <a:hueOff val="2184709"/>
            <a:satOff val="-2725"/>
            <a:lumOff val="64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008" tIns="77684" rIns="74008" bIns="77684" numCol="1" spcCol="1270" anchor="ctr" anchorCtr="0">
          <a:noAutofit/>
        </a:bodyPr>
        <a:lstStyle/>
        <a:p>
          <a:pPr marL="0" lvl="0" indent="0" algn="ctr" defTabSz="577850">
            <a:lnSpc>
              <a:spcPct val="90000"/>
            </a:lnSpc>
            <a:spcBef>
              <a:spcPct val="0"/>
            </a:spcBef>
            <a:spcAft>
              <a:spcPct val="35000"/>
            </a:spcAft>
            <a:buNone/>
          </a:pPr>
          <a:r>
            <a:rPr lang="en-IN" sz="1300" kern="1200"/>
            <a:t>Renamed fields for better readability and consistency.  </a:t>
          </a:r>
          <a:endParaRPr lang="en-US" sz="1300" kern="1200"/>
        </a:p>
      </dsp:txBody>
      <dsp:txXfrm>
        <a:off x="1865906" y="1756284"/>
        <a:ext cx="1510342" cy="906205"/>
      </dsp:txXfrm>
    </dsp:sp>
    <dsp:sp modelId="{C451D691-4656-4298-B429-7F86DD8B56B5}">
      <dsp:nvSpPr>
        <dsp:cNvPr id="0" name=""/>
        <dsp:cNvSpPr/>
      </dsp:nvSpPr>
      <dsp:spPr>
        <a:xfrm>
          <a:off x="5232170" y="2163666"/>
          <a:ext cx="316778" cy="91440"/>
        </a:xfrm>
        <a:custGeom>
          <a:avLst/>
          <a:gdLst/>
          <a:ahLst/>
          <a:cxnLst/>
          <a:rect l="0" t="0" r="0" b="0"/>
          <a:pathLst>
            <a:path>
              <a:moveTo>
                <a:pt x="0" y="45720"/>
              </a:moveTo>
              <a:lnTo>
                <a:pt x="316778" y="45720"/>
              </a:lnTo>
            </a:path>
          </a:pathLst>
        </a:custGeom>
        <a:noFill/>
        <a:ln w="9525" cap="flat" cmpd="sng" algn="ctr">
          <a:solidFill>
            <a:schemeClr val="accent2">
              <a:hueOff val="2675154"/>
              <a:satOff val="-3337"/>
              <a:lumOff val="785"/>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81875" y="2207650"/>
        <a:ext cx="17368" cy="3473"/>
      </dsp:txXfrm>
    </dsp:sp>
    <dsp:sp modelId="{BED226E2-082D-43E0-94F8-5B326FB6572E}">
      <dsp:nvSpPr>
        <dsp:cNvPr id="0" name=""/>
        <dsp:cNvSpPr/>
      </dsp:nvSpPr>
      <dsp:spPr>
        <a:xfrm>
          <a:off x="3723628" y="1756284"/>
          <a:ext cx="1510342" cy="906205"/>
        </a:xfrm>
        <a:prstGeom prst="rect">
          <a:avLst/>
        </a:prstGeom>
        <a:solidFill>
          <a:schemeClr val="accent2">
            <a:hueOff val="2496810"/>
            <a:satOff val="-3114"/>
            <a:lumOff val="73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008" tIns="77684" rIns="74008" bIns="77684" numCol="1" spcCol="1270" anchor="ctr" anchorCtr="0">
          <a:noAutofit/>
        </a:bodyPr>
        <a:lstStyle/>
        <a:p>
          <a:pPr marL="0" lvl="0" indent="0" algn="ctr" defTabSz="577850">
            <a:lnSpc>
              <a:spcPct val="90000"/>
            </a:lnSpc>
            <a:spcBef>
              <a:spcPct val="0"/>
            </a:spcBef>
            <a:spcAft>
              <a:spcPct val="35000"/>
            </a:spcAft>
            <a:buNone/>
          </a:pPr>
          <a:r>
            <a:rPr lang="en-IN" sz="1300" b="1" u="sng" kern="1200"/>
            <a:t>Data Organization</a:t>
          </a:r>
          <a:endParaRPr lang="en-US" sz="1300" kern="1200"/>
        </a:p>
      </dsp:txBody>
      <dsp:txXfrm>
        <a:off x="3723628" y="1756284"/>
        <a:ext cx="1510342" cy="906205"/>
      </dsp:txXfrm>
    </dsp:sp>
    <dsp:sp modelId="{F79AA501-FF49-4CC2-A447-C393BD4C9F36}">
      <dsp:nvSpPr>
        <dsp:cNvPr id="0" name=""/>
        <dsp:cNvSpPr/>
      </dsp:nvSpPr>
      <dsp:spPr>
        <a:xfrm>
          <a:off x="7089891" y="2163666"/>
          <a:ext cx="316778" cy="91440"/>
        </a:xfrm>
        <a:custGeom>
          <a:avLst/>
          <a:gdLst/>
          <a:ahLst/>
          <a:cxnLst/>
          <a:rect l="0" t="0" r="0" b="0"/>
          <a:pathLst>
            <a:path>
              <a:moveTo>
                <a:pt x="0" y="45720"/>
              </a:moveTo>
              <a:lnTo>
                <a:pt x="316778" y="45720"/>
              </a:lnTo>
            </a:path>
          </a:pathLst>
        </a:custGeom>
        <a:noFill/>
        <a:ln w="9525" cap="flat" cmpd="sng" algn="ctr">
          <a:solidFill>
            <a:schemeClr val="accent2">
              <a:hueOff val="3009548"/>
              <a:satOff val="-3754"/>
              <a:lumOff val="883"/>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239596" y="2207650"/>
        <a:ext cx="17368" cy="3473"/>
      </dsp:txXfrm>
    </dsp:sp>
    <dsp:sp modelId="{E283BE3F-4780-4E03-9012-EC75714CA795}">
      <dsp:nvSpPr>
        <dsp:cNvPr id="0" name=""/>
        <dsp:cNvSpPr/>
      </dsp:nvSpPr>
      <dsp:spPr>
        <a:xfrm>
          <a:off x="5581349" y="1756284"/>
          <a:ext cx="1510342" cy="906205"/>
        </a:xfrm>
        <a:prstGeom prst="rect">
          <a:avLst/>
        </a:prstGeom>
        <a:solidFill>
          <a:schemeClr val="accent2">
            <a:hueOff val="2808911"/>
            <a:satOff val="-3503"/>
            <a:lumOff val="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008" tIns="77684" rIns="74008" bIns="77684" numCol="1" spcCol="1270" anchor="ctr" anchorCtr="0">
          <a:noAutofit/>
        </a:bodyPr>
        <a:lstStyle/>
        <a:p>
          <a:pPr marL="0" lvl="0" indent="0" algn="ctr" defTabSz="577850">
            <a:lnSpc>
              <a:spcPct val="90000"/>
            </a:lnSpc>
            <a:spcBef>
              <a:spcPct val="0"/>
            </a:spcBef>
            <a:spcAft>
              <a:spcPct val="35000"/>
            </a:spcAft>
            <a:buNone/>
          </a:pPr>
          <a:r>
            <a:rPr lang="en-IN" sz="1300" kern="1200" dirty="0"/>
            <a:t>Created a </a:t>
          </a:r>
          <a:r>
            <a:rPr lang="en-IN" sz="1300" b="1" kern="1200" dirty="0"/>
            <a:t>Data Dictionary</a:t>
          </a:r>
          <a:r>
            <a:rPr lang="en-IN" sz="1300" kern="1200" dirty="0"/>
            <a:t> to document all dataset fields. </a:t>
          </a:r>
          <a:endParaRPr lang="en-US" sz="1300" kern="1200" dirty="0"/>
        </a:p>
      </dsp:txBody>
      <dsp:txXfrm>
        <a:off x="5581349" y="1756284"/>
        <a:ext cx="1510342" cy="906205"/>
      </dsp:txXfrm>
    </dsp:sp>
    <dsp:sp modelId="{2B147A57-1BB8-451B-B903-6E0406A95A8F}">
      <dsp:nvSpPr>
        <dsp:cNvPr id="0" name=""/>
        <dsp:cNvSpPr/>
      </dsp:nvSpPr>
      <dsp:spPr>
        <a:xfrm>
          <a:off x="8947613" y="2163666"/>
          <a:ext cx="316778" cy="91440"/>
        </a:xfrm>
        <a:custGeom>
          <a:avLst/>
          <a:gdLst/>
          <a:ahLst/>
          <a:cxnLst/>
          <a:rect l="0" t="0" r="0" b="0"/>
          <a:pathLst>
            <a:path>
              <a:moveTo>
                <a:pt x="0" y="45720"/>
              </a:moveTo>
              <a:lnTo>
                <a:pt x="316778" y="45720"/>
              </a:lnTo>
            </a:path>
          </a:pathLst>
        </a:custGeom>
        <a:noFill/>
        <a:ln w="9525" cap="flat" cmpd="sng" algn="ctr">
          <a:solidFill>
            <a:schemeClr val="accent2">
              <a:hueOff val="3343942"/>
              <a:satOff val="-4171"/>
              <a:lumOff val="981"/>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9097318" y="2207650"/>
        <a:ext cx="17368" cy="3473"/>
      </dsp:txXfrm>
    </dsp:sp>
    <dsp:sp modelId="{D5EC251D-3E65-4736-9D54-6D70801876DD}">
      <dsp:nvSpPr>
        <dsp:cNvPr id="0" name=""/>
        <dsp:cNvSpPr/>
      </dsp:nvSpPr>
      <dsp:spPr>
        <a:xfrm>
          <a:off x="7439070" y="1756284"/>
          <a:ext cx="1510342" cy="906205"/>
        </a:xfrm>
        <a:prstGeom prst="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008" tIns="77684" rIns="74008" bIns="77684" numCol="1" spcCol="1270" anchor="ctr" anchorCtr="0">
          <a:noAutofit/>
        </a:bodyPr>
        <a:lstStyle/>
        <a:p>
          <a:pPr marL="0" lvl="0" indent="0" algn="ctr" defTabSz="577850">
            <a:lnSpc>
              <a:spcPct val="90000"/>
            </a:lnSpc>
            <a:spcBef>
              <a:spcPct val="0"/>
            </a:spcBef>
            <a:spcAft>
              <a:spcPct val="35000"/>
            </a:spcAft>
            <a:buNone/>
          </a:pPr>
          <a:r>
            <a:rPr lang="en-IN" sz="1300" kern="1200"/>
            <a:t>Prepared </a:t>
          </a:r>
          <a:r>
            <a:rPr lang="en-IN" sz="1300" b="1" kern="1200"/>
            <a:t>Metadata</a:t>
          </a:r>
          <a:r>
            <a:rPr lang="en-IN" sz="1300" kern="1200"/>
            <a:t> describing each variable. </a:t>
          </a:r>
          <a:endParaRPr lang="en-US" sz="1300" kern="1200"/>
        </a:p>
      </dsp:txBody>
      <dsp:txXfrm>
        <a:off x="7439070" y="1756284"/>
        <a:ext cx="1510342" cy="906205"/>
      </dsp:txXfrm>
    </dsp:sp>
    <dsp:sp modelId="{FFAD2819-979B-4BEC-AE7D-5B3DE07DB11C}">
      <dsp:nvSpPr>
        <dsp:cNvPr id="0" name=""/>
        <dsp:cNvSpPr/>
      </dsp:nvSpPr>
      <dsp:spPr>
        <a:xfrm>
          <a:off x="763356" y="2660689"/>
          <a:ext cx="9288606" cy="316778"/>
        </a:xfrm>
        <a:custGeom>
          <a:avLst/>
          <a:gdLst/>
          <a:ahLst/>
          <a:cxnLst/>
          <a:rect l="0" t="0" r="0" b="0"/>
          <a:pathLst>
            <a:path>
              <a:moveTo>
                <a:pt x="9288606" y="0"/>
              </a:moveTo>
              <a:lnTo>
                <a:pt x="9288606" y="175489"/>
              </a:lnTo>
              <a:lnTo>
                <a:pt x="0" y="175489"/>
              </a:lnTo>
              <a:lnTo>
                <a:pt x="0" y="316778"/>
              </a:lnTo>
            </a:path>
          </a:pathLst>
        </a:custGeom>
        <a:noFill/>
        <a:ln w="9525" cap="flat" cmpd="sng" algn="ctr">
          <a:solidFill>
            <a:schemeClr val="accent2">
              <a:hueOff val="3678336"/>
              <a:satOff val="-4588"/>
              <a:lumOff val="1079"/>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175282" y="2817342"/>
        <a:ext cx="464755" cy="3473"/>
      </dsp:txXfrm>
    </dsp:sp>
    <dsp:sp modelId="{977CA2E3-9C78-4918-8576-56D589042E3F}">
      <dsp:nvSpPr>
        <dsp:cNvPr id="0" name=""/>
        <dsp:cNvSpPr/>
      </dsp:nvSpPr>
      <dsp:spPr>
        <a:xfrm>
          <a:off x="9296792" y="1756284"/>
          <a:ext cx="1510342" cy="906205"/>
        </a:xfrm>
        <a:prstGeom prst="rect">
          <a:avLst/>
        </a:prstGeom>
        <a:solidFill>
          <a:schemeClr val="accent2">
            <a:hueOff val="3433114"/>
            <a:satOff val="-4282"/>
            <a:lumOff val="100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008" tIns="77684" rIns="74008" bIns="77684" numCol="1" spcCol="1270" anchor="ctr" anchorCtr="0">
          <a:noAutofit/>
        </a:bodyPr>
        <a:lstStyle/>
        <a:p>
          <a:pPr marL="0" lvl="0" indent="0" algn="ctr" defTabSz="577850">
            <a:lnSpc>
              <a:spcPct val="90000"/>
            </a:lnSpc>
            <a:spcBef>
              <a:spcPct val="0"/>
            </a:spcBef>
            <a:spcAft>
              <a:spcPct val="35000"/>
            </a:spcAft>
            <a:buNone/>
          </a:pPr>
          <a:r>
            <a:rPr lang="en-IN" sz="1300" kern="1200"/>
            <a:t>Classified fields into </a:t>
          </a:r>
          <a:r>
            <a:rPr lang="en-IN" sz="1300" b="1" kern="1200"/>
            <a:t>Dimensions</a:t>
          </a:r>
          <a:r>
            <a:rPr lang="en-IN" sz="1300" kern="1200"/>
            <a:t> and </a:t>
          </a:r>
          <a:r>
            <a:rPr lang="en-IN" sz="1300" b="1" kern="1200"/>
            <a:t>Measures</a:t>
          </a:r>
          <a:r>
            <a:rPr lang="en-IN" sz="1300" kern="1200"/>
            <a:t>. </a:t>
          </a:r>
          <a:endParaRPr lang="en-US" sz="1300" kern="1200"/>
        </a:p>
      </dsp:txBody>
      <dsp:txXfrm>
        <a:off x="9296792" y="1756284"/>
        <a:ext cx="1510342" cy="906205"/>
      </dsp:txXfrm>
    </dsp:sp>
    <dsp:sp modelId="{77BE155A-5FB2-425E-8F04-738F4E0AC409}">
      <dsp:nvSpPr>
        <dsp:cNvPr id="0" name=""/>
        <dsp:cNvSpPr/>
      </dsp:nvSpPr>
      <dsp:spPr>
        <a:xfrm>
          <a:off x="1516727" y="3417251"/>
          <a:ext cx="316778" cy="91440"/>
        </a:xfrm>
        <a:custGeom>
          <a:avLst/>
          <a:gdLst/>
          <a:ahLst/>
          <a:cxnLst/>
          <a:rect l="0" t="0" r="0" b="0"/>
          <a:pathLst>
            <a:path>
              <a:moveTo>
                <a:pt x="0" y="45720"/>
              </a:moveTo>
              <a:lnTo>
                <a:pt x="316778" y="45720"/>
              </a:lnTo>
            </a:path>
          </a:pathLst>
        </a:custGeom>
        <a:noFill/>
        <a:ln w="9525" cap="flat" cmpd="sng" algn="ctr">
          <a:solidFill>
            <a:schemeClr val="accent2">
              <a:hueOff val="4012731"/>
              <a:satOff val="-5005"/>
              <a:lumOff val="1177"/>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66432" y="3461234"/>
        <a:ext cx="17368" cy="3473"/>
      </dsp:txXfrm>
    </dsp:sp>
    <dsp:sp modelId="{40636632-BD95-436D-9B2F-0EFA629C92E3}">
      <dsp:nvSpPr>
        <dsp:cNvPr id="0" name=""/>
        <dsp:cNvSpPr/>
      </dsp:nvSpPr>
      <dsp:spPr>
        <a:xfrm>
          <a:off x="8185" y="3009868"/>
          <a:ext cx="1510342" cy="906205"/>
        </a:xfrm>
        <a:prstGeom prst="rect">
          <a:avLst/>
        </a:prstGeom>
        <a:solidFill>
          <a:schemeClr val="accent2">
            <a:hueOff val="3745215"/>
            <a:satOff val="-4671"/>
            <a:lumOff val="1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008" tIns="77684" rIns="74008" bIns="77684" numCol="1" spcCol="1270" anchor="ctr" anchorCtr="0">
          <a:noAutofit/>
        </a:bodyPr>
        <a:lstStyle/>
        <a:p>
          <a:pPr marL="0" lvl="0" indent="0" algn="ctr" defTabSz="577850">
            <a:lnSpc>
              <a:spcPct val="90000"/>
            </a:lnSpc>
            <a:spcBef>
              <a:spcPct val="0"/>
            </a:spcBef>
            <a:spcAft>
              <a:spcPct val="35000"/>
            </a:spcAft>
            <a:buNone/>
          </a:pPr>
          <a:r>
            <a:rPr lang="en-IN" sz="1300" kern="1200"/>
            <a:t>Organized the Tableau workbook for efficient analysis. </a:t>
          </a:r>
          <a:endParaRPr lang="en-US" sz="1300" kern="1200"/>
        </a:p>
      </dsp:txBody>
      <dsp:txXfrm>
        <a:off x="8185" y="3009868"/>
        <a:ext cx="1510342" cy="906205"/>
      </dsp:txXfrm>
    </dsp:sp>
    <dsp:sp modelId="{29680C1E-FEC1-47A9-809D-80048371DA49}">
      <dsp:nvSpPr>
        <dsp:cNvPr id="0" name=""/>
        <dsp:cNvSpPr/>
      </dsp:nvSpPr>
      <dsp:spPr>
        <a:xfrm>
          <a:off x="3374449" y="3417251"/>
          <a:ext cx="316778" cy="91440"/>
        </a:xfrm>
        <a:custGeom>
          <a:avLst/>
          <a:gdLst/>
          <a:ahLst/>
          <a:cxnLst/>
          <a:rect l="0" t="0" r="0" b="0"/>
          <a:pathLst>
            <a:path>
              <a:moveTo>
                <a:pt x="0" y="45720"/>
              </a:moveTo>
              <a:lnTo>
                <a:pt x="316778" y="45720"/>
              </a:lnTo>
            </a:path>
          </a:pathLst>
        </a:custGeom>
        <a:noFill/>
        <a:ln w="9525" cap="flat" cmpd="sng" algn="ctr">
          <a:solidFill>
            <a:schemeClr val="accent2">
              <a:hueOff val="4347124"/>
              <a:satOff val="-5422"/>
              <a:lumOff val="1275"/>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524154" y="3461234"/>
        <a:ext cx="17368" cy="3473"/>
      </dsp:txXfrm>
    </dsp:sp>
    <dsp:sp modelId="{781CF3AD-616D-4558-91EB-B2CD4E1B61F1}">
      <dsp:nvSpPr>
        <dsp:cNvPr id="0" name=""/>
        <dsp:cNvSpPr/>
      </dsp:nvSpPr>
      <dsp:spPr>
        <a:xfrm>
          <a:off x="1865906" y="3009868"/>
          <a:ext cx="1510342" cy="906205"/>
        </a:xfrm>
        <a:prstGeom prst="rect">
          <a:avLst/>
        </a:prstGeom>
        <a:solidFill>
          <a:schemeClr val="accent2">
            <a:hueOff val="4057316"/>
            <a:satOff val="-5060"/>
            <a:lumOff val="119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008" tIns="77684" rIns="74008" bIns="77684" numCol="1" spcCol="1270" anchor="ctr" anchorCtr="0">
          <a:noAutofit/>
        </a:bodyPr>
        <a:lstStyle/>
        <a:p>
          <a:pPr marL="0" lvl="0" indent="0" algn="ctr" defTabSz="577850">
            <a:lnSpc>
              <a:spcPct val="90000"/>
            </a:lnSpc>
            <a:spcBef>
              <a:spcPct val="0"/>
            </a:spcBef>
            <a:spcAft>
              <a:spcPct val="35000"/>
            </a:spcAft>
            <a:buNone/>
          </a:pPr>
          <a:r>
            <a:rPr lang="en-IN" sz="1300" b="1" u="sng" kern="1200"/>
            <a:t>Data Validation</a:t>
          </a:r>
          <a:endParaRPr lang="en-US" sz="1300" kern="1200"/>
        </a:p>
      </dsp:txBody>
      <dsp:txXfrm>
        <a:off x="1865906" y="3009868"/>
        <a:ext cx="1510342" cy="906205"/>
      </dsp:txXfrm>
    </dsp:sp>
    <dsp:sp modelId="{3B61CC99-03EC-4B90-AB88-A9F199F01129}">
      <dsp:nvSpPr>
        <dsp:cNvPr id="0" name=""/>
        <dsp:cNvSpPr/>
      </dsp:nvSpPr>
      <dsp:spPr>
        <a:xfrm>
          <a:off x="5232170" y="3417251"/>
          <a:ext cx="316778" cy="91440"/>
        </a:xfrm>
        <a:custGeom>
          <a:avLst/>
          <a:gdLst/>
          <a:ahLst/>
          <a:cxnLst/>
          <a:rect l="0" t="0" r="0" b="0"/>
          <a:pathLst>
            <a:path>
              <a:moveTo>
                <a:pt x="0" y="45720"/>
              </a:moveTo>
              <a:lnTo>
                <a:pt x="316778" y="45720"/>
              </a:lnTo>
            </a:path>
          </a:pathLst>
        </a:custGeom>
        <a:noFill/>
        <a:ln w="9525" cap="flat" cmpd="sng" algn="ctr">
          <a:solidFill>
            <a:schemeClr val="accent2">
              <a:hueOff val="4681519"/>
              <a:satOff val="-5839"/>
              <a:lumOff val="1373"/>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81875" y="3461234"/>
        <a:ext cx="17368" cy="3473"/>
      </dsp:txXfrm>
    </dsp:sp>
    <dsp:sp modelId="{D1E59C8D-DD92-46FA-8417-7F81D3AAEFD6}">
      <dsp:nvSpPr>
        <dsp:cNvPr id="0" name=""/>
        <dsp:cNvSpPr/>
      </dsp:nvSpPr>
      <dsp:spPr>
        <a:xfrm>
          <a:off x="3723628" y="3009868"/>
          <a:ext cx="1510342" cy="906205"/>
        </a:xfrm>
        <a:prstGeom prst="rect">
          <a:avLst/>
        </a:prstGeom>
        <a:solidFill>
          <a:schemeClr val="accent2">
            <a:hueOff val="4369417"/>
            <a:satOff val="-5450"/>
            <a:lumOff val="128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008" tIns="77684" rIns="74008" bIns="77684" numCol="1" spcCol="1270" anchor="ctr" anchorCtr="0">
          <a:noAutofit/>
        </a:bodyPr>
        <a:lstStyle/>
        <a:p>
          <a:pPr marL="0" lvl="0" indent="0" algn="ctr" defTabSz="577850">
            <a:lnSpc>
              <a:spcPct val="90000"/>
            </a:lnSpc>
            <a:spcBef>
              <a:spcPct val="0"/>
            </a:spcBef>
            <a:spcAft>
              <a:spcPct val="35000"/>
            </a:spcAft>
            <a:buNone/>
          </a:pPr>
          <a:r>
            <a:rPr lang="en-IN" sz="1300" kern="1200"/>
            <a:t>Verified the total number of employees (</a:t>
          </a:r>
          <a:r>
            <a:rPr lang="en-IN" sz="1300" b="1" kern="1200"/>
            <a:t>1470</a:t>
          </a:r>
          <a:r>
            <a:rPr lang="en-IN" sz="1300" kern="1200"/>
            <a:t>). </a:t>
          </a:r>
          <a:endParaRPr lang="en-US" sz="1300" kern="1200"/>
        </a:p>
      </dsp:txBody>
      <dsp:txXfrm>
        <a:off x="3723628" y="3009868"/>
        <a:ext cx="1510342" cy="906205"/>
      </dsp:txXfrm>
    </dsp:sp>
    <dsp:sp modelId="{E8982C2E-F82C-4780-AC99-9C75BF3319E7}">
      <dsp:nvSpPr>
        <dsp:cNvPr id="0" name=""/>
        <dsp:cNvSpPr/>
      </dsp:nvSpPr>
      <dsp:spPr>
        <a:xfrm>
          <a:off x="5581349" y="3009868"/>
          <a:ext cx="1510342" cy="906205"/>
        </a:xfrm>
        <a:prstGeom prst="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4008" tIns="77684" rIns="74008" bIns="77684" numCol="1" spcCol="1270" anchor="ctr" anchorCtr="0">
          <a:noAutofit/>
        </a:bodyPr>
        <a:lstStyle/>
        <a:p>
          <a:pPr marL="0" lvl="0" indent="0" algn="ctr" defTabSz="577850">
            <a:lnSpc>
              <a:spcPct val="90000"/>
            </a:lnSpc>
            <a:spcBef>
              <a:spcPct val="0"/>
            </a:spcBef>
            <a:spcAft>
              <a:spcPct val="35000"/>
            </a:spcAft>
            <a:buNone/>
          </a:pPr>
          <a:r>
            <a:rPr lang="en-IN" sz="1300" kern="1200"/>
            <a:t>Confirmed that key HR fields were accurate.</a:t>
          </a:r>
          <a:endParaRPr lang="en-US" sz="1300" kern="1200"/>
        </a:p>
      </dsp:txBody>
      <dsp:txXfrm>
        <a:off x="5581349" y="3009868"/>
        <a:ext cx="1510342" cy="906205"/>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54594" y="437780"/>
            <a:ext cx="5929957" cy="584775"/>
          </a:xfrm>
          <a:prstGeom prst="rect">
            <a:avLst/>
          </a:prstGeom>
          <a:noFill/>
        </p:spPr>
        <p:txBody>
          <a:bodyPr wrap="none">
            <a:spAutoFit/>
          </a:bodyPr>
          <a:lstStyle/>
          <a:p>
            <a:pPr marL="457200" indent="-457200">
              <a:buFont typeface="Wingdings" panose="05000000000000000000" pitchFamily="2" charset="2"/>
              <a:buChar char="v"/>
              <a:defRPr sz="2800" b="1"/>
            </a:pPr>
            <a:r>
              <a:rPr sz="3200" u="sng" dirty="0"/>
              <a:t>HR Employee Attrition Analysis</a:t>
            </a:r>
          </a:p>
        </p:txBody>
      </p:sp>
      <p:sp>
        <p:nvSpPr>
          <p:cNvPr id="3" name="TextBox 2"/>
          <p:cNvSpPr txBox="1"/>
          <p:nvPr/>
        </p:nvSpPr>
        <p:spPr>
          <a:xfrm>
            <a:off x="863272" y="1347019"/>
            <a:ext cx="8900160" cy="2712730"/>
          </a:xfrm>
          <a:prstGeom prst="rect">
            <a:avLst/>
          </a:prstGeom>
          <a:noFill/>
        </p:spPr>
        <p:txBody>
          <a:bodyPr wrap="square">
            <a:spAutoFit/>
          </a:bodyPr>
          <a:lstStyle/>
          <a:p>
            <a:pPr>
              <a:lnSpc>
                <a:spcPct val="150000"/>
              </a:lnSpc>
              <a:defRPr sz="2000"/>
            </a:pPr>
            <a:r>
              <a:rPr lang="en-US" b="1" dirty="0"/>
              <a:t>                                         </a:t>
            </a:r>
            <a:r>
              <a:rPr sz="2400" b="1" u="sng" dirty="0"/>
              <a:t>Tableau Public Dashboard Project</a:t>
            </a:r>
            <a:endParaRPr b="1" u="sng" dirty="0"/>
          </a:p>
          <a:p>
            <a:pPr>
              <a:lnSpc>
                <a:spcPct val="150000"/>
              </a:lnSpc>
            </a:pPr>
            <a:endParaRPr lang="en-US" sz="2000" b="1" dirty="0"/>
          </a:p>
          <a:p>
            <a:pPr>
              <a:lnSpc>
                <a:spcPct val="150000"/>
              </a:lnSpc>
            </a:pPr>
            <a:r>
              <a:rPr sz="2400" b="1" dirty="0"/>
              <a:t>Name:</a:t>
            </a:r>
            <a:r>
              <a:rPr lang="en-US" sz="2400" b="1" dirty="0"/>
              <a:t>- Vishal M Patel</a:t>
            </a:r>
          </a:p>
          <a:p>
            <a:pPr>
              <a:lnSpc>
                <a:spcPct val="150000"/>
              </a:lnSpc>
            </a:pPr>
            <a:r>
              <a:rPr lang="en-US" sz="2400" b="1" dirty="0"/>
              <a:t>Course :- Data Analytics</a:t>
            </a:r>
          </a:p>
          <a:p>
            <a:pPr>
              <a:lnSpc>
                <a:spcPct val="150000"/>
              </a:lnSpc>
            </a:pPr>
            <a:r>
              <a:rPr lang="en-US" sz="2400" b="1" dirty="0"/>
              <a:t>Institute Name :- AENEXZ (DATA SCIENCE &amp; DATA ANALYTICS)</a:t>
            </a:r>
            <a:endParaRPr sz="24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3501408" cy="523220"/>
          </a:xfrm>
          <a:prstGeom prst="rect">
            <a:avLst/>
          </a:prstGeom>
          <a:noFill/>
        </p:spPr>
        <p:txBody>
          <a:bodyPr wrap="none">
            <a:spAutoFit/>
          </a:bodyPr>
          <a:lstStyle/>
          <a:p>
            <a:pPr marL="457200" indent="-457200">
              <a:buFont typeface="Wingdings" panose="05000000000000000000" pitchFamily="2" charset="2"/>
              <a:buChar char="v"/>
              <a:defRPr sz="2800" b="1"/>
            </a:pPr>
            <a:r>
              <a:rPr u="sng" dirty="0"/>
              <a:t>Project Overview</a:t>
            </a:r>
            <a:r>
              <a:rPr lang="en-US" u="sng" dirty="0"/>
              <a:t> :-</a:t>
            </a:r>
            <a:endParaRPr u="sng" dirty="0"/>
          </a:p>
        </p:txBody>
      </p:sp>
      <p:sp>
        <p:nvSpPr>
          <p:cNvPr id="3" name="TextBox 2"/>
          <p:cNvSpPr txBox="1"/>
          <p:nvPr/>
        </p:nvSpPr>
        <p:spPr>
          <a:xfrm>
            <a:off x="548640" y="914400"/>
            <a:ext cx="11646137" cy="6532558"/>
          </a:xfrm>
          <a:prstGeom prst="rect">
            <a:avLst/>
          </a:prstGeom>
          <a:noFill/>
        </p:spPr>
        <p:txBody>
          <a:bodyPr wrap="none">
            <a:spAutoFit/>
          </a:bodyPr>
          <a:lstStyle/>
          <a:p>
            <a:pPr marL="342900" indent="-342900">
              <a:buFont typeface="Wingdings" panose="05000000000000000000" pitchFamily="2" charset="2"/>
              <a:buChar char="Ø"/>
              <a:defRPr sz="2000"/>
            </a:pPr>
            <a:r>
              <a:rPr sz="2400" b="1" u="sng" dirty="0">
                <a:latin typeface="Times New Roman" panose="02020603050405020304" pitchFamily="18" charset="0"/>
                <a:cs typeface="Times New Roman" panose="02020603050405020304" pitchFamily="18" charset="0"/>
              </a:rPr>
              <a:t>Objective</a:t>
            </a:r>
            <a:endParaRPr lang="en-US" sz="1100" b="1" u="sng" dirty="0">
              <a:latin typeface="Times New Roman" panose="02020603050405020304" pitchFamily="18" charset="0"/>
              <a:cs typeface="Times New Roman" panose="02020603050405020304" pitchFamily="18" charset="0"/>
            </a:endParaRPr>
          </a:p>
          <a:p>
            <a:pPr>
              <a:defRPr sz="2000"/>
            </a:pPr>
            <a:endParaRPr sz="1050" b="1" u="sng"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IN" sz="2200" dirty="0" err="1">
                <a:latin typeface="Times New Roman" panose="02020603050405020304" pitchFamily="18" charset="0"/>
                <a:cs typeface="Times New Roman" panose="02020603050405020304" pitchFamily="18" charset="0"/>
              </a:rPr>
              <a:t>Analyze</a:t>
            </a:r>
            <a:r>
              <a:rPr lang="en-IN" sz="2200" dirty="0">
                <a:latin typeface="Times New Roman" panose="02020603050405020304" pitchFamily="18" charset="0"/>
                <a:cs typeface="Times New Roman" panose="02020603050405020304" pitchFamily="18" charset="0"/>
              </a:rPr>
              <a:t> employee attrition data to identify the key factors influencing employee turnover. </a:t>
            </a:r>
          </a:p>
          <a:p>
            <a:pPr marL="34290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Perform data cleaning and exploratory data analysis (EDA) using Tableau. </a:t>
            </a:r>
          </a:p>
          <a:p>
            <a:pPr marL="34290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Develop an interactive dashboard to visualize HR metrics and attrition trends. </a:t>
            </a:r>
          </a:p>
          <a:p>
            <a:pPr marL="34290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Generate actionable insights and recommendations to support better employee retention strategies.</a:t>
            </a:r>
          </a:p>
          <a:p>
            <a:pPr marL="342900" indent="-342900">
              <a:lnSpc>
                <a:spcPct val="150000"/>
              </a:lnSpc>
              <a:buFont typeface="Wingdings" panose="05000000000000000000" pitchFamily="2" charset="2"/>
              <a:buChar char="Ø"/>
            </a:pPr>
            <a:r>
              <a:rPr lang="en-IN" sz="2400" b="1" u="sng" dirty="0">
                <a:latin typeface="Times New Roman" panose="02020603050405020304" pitchFamily="18" charset="0"/>
                <a:cs typeface="Times New Roman" panose="02020603050405020304" pitchFamily="18" charset="0"/>
              </a:rPr>
              <a:t>Business Problem</a:t>
            </a:r>
          </a:p>
          <a:p>
            <a:pPr marL="34290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Employee attrition is a major challenge for organizations as it leads to:</a:t>
            </a:r>
          </a:p>
          <a:p>
            <a:pPr marL="34290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Increased recruitment and training costs. </a:t>
            </a:r>
          </a:p>
          <a:p>
            <a:pPr marL="34290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Loss of experienced and skilled employees. </a:t>
            </a:r>
          </a:p>
          <a:p>
            <a:pPr marL="34290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Reduced productivity and team performance. </a:t>
            </a:r>
          </a:p>
          <a:p>
            <a:pPr marL="342900" indent="-342900">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Lower employee morale and operational efficiency.</a:t>
            </a:r>
          </a:p>
          <a:p>
            <a:pPr>
              <a:lnSpc>
                <a:spcPct val="150000"/>
              </a:lnSpc>
            </a:pPr>
            <a:r>
              <a:rPr lang="en-IN" sz="2200" dirty="0">
                <a:latin typeface="Times New Roman" panose="02020603050405020304" pitchFamily="18" charset="0"/>
                <a:cs typeface="Times New Roman" panose="02020603050405020304" pitchFamily="18" charset="0"/>
              </a:rPr>
              <a:t> </a:t>
            </a:r>
          </a:p>
          <a:p>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3835024" cy="523220"/>
          </a:xfrm>
          <a:prstGeom prst="rect">
            <a:avLst/>
          </a:prstGeom>
          <a:noFill/>
        </p:spPr>
        <p:txBody>
          <a:bodyPr wrap="none">
            <a:spAutoFit/>
          </a:bodyPr>
          <a:lstStyle/>
          <a:p>
            <a:pPr marL="457200" indent="-457200">
              <a:buFont typeface="Wingdings" panose="05000000000000000000" pitchFamily="2" charset="2"/>
              <a:buChar char="v"/>
              <a:defRPr sz="2800" b="1"/>
            </a:pPr>
            <a:r>
              <a:rPr u="sng" dirty="0"/>
              <a:t>Problem Statement</a:t>
            </a:r>
            <a:r>
              <a:rPr lang="en-US" u="sng" dirty="0"/>
              <a:t> :-</a:t>
            </a:r>
            <a:endParaRPr u="sng" dirty="0"/>
          </a:p>
        </p:txBody>
      </p:sp>
      <p:sp>
        <p:nvSpPr>
          <p:cNvPr id="3" name="TextBox 2"/>
          <p:cNvSpPr txBox="1"/>
          <p:nvPr/>
        </p:nvSpPr>
        <p:spPr>
          <a:xfrm>
            <a:off x="548640" y="914398"/>
            <a:ext cx="10689631" cy="2352952"/>
          </a:xfrm>
          <a:prstGeom prst="rect">
            <a:avLst/>
          </a:prstGeom>
          <a:noFill/>
        </p:spPr>
        <p:txBody>
          <a:bodyPr wrap="square">
            <a:spAutoFit/>
          </a:bodyPr>
          <a:lstStyle/>
          <a:p>
            <a:pPr marL="342900" indent="-342900">
              <a:lnSpc>
                <a:spcPct val="150000"/>
              </a:lnSpc>
              <a:buFont typeface="Wingdings" panose="05000000000000000000" pitchFamily="2" charset="2"/>
              <a:buChar char="Ø"/>
              <a:defRPr sz="2000"/>
            </a:pPr>
            <a:r>
              <a:rPr lang="en-IN" dirty="0"/>
              <a:t>Employee attrition is one of the most significant challenges faced by organizations. High employee turnover increases recruitment and training costs, reduces productivity, disrupts team performance, and results in the loss of experienced talent. Understanding the factors that influence employees to leave is essential for improving workforce stability and organizational performance.</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638882" y="639193"/>
            <a:ext cx="3571810" cy="3573516"/>
          </a:xfrm>
          <a:prstGeom prst="rect">
            <a:avLst/>
          </a:prstGeom>
        </p:spPr>
        <p:txBody>
          <a:bodyPr vert="horz" lIns="91440" tIns="45720" rIns="91440" bIns="45720" rtlCol="0" anchor="b">
            <a:normAutofit/>
          </a:bodyPr>
          <a:lstStyle/>
          <a:p>
            <a:pPr defTabSz="914400">
              <a:lnSpc>
                <a:spcPct val="90000"/>
              </a:lnSpc>
              <a:spcBef>
                <a:spcPct val="0"/>
              </a:spcBef>
              <a:spcAft>
                <a:spcPts val="600"/>
              </a:spcAft>
              <a:defRPr sz="2800" b="1"/>
            </a:pPr>
            <a:r>
              <a:rPr lang="en-US" sz="6600" kern="1200" dirty="0">
                <a:solidFill>
                  <a:schemeClr val="tx1"/>
                </a:solidFill>
                <a:latin typeface="+mj-lt"/>
                <a:ea typeface="+mj-ea"/>
                <a:cs typeface="+mj-cs"/>
              </a:rPr>
              <a:t>Dataset Overview</a:t>
            </a:r>
            <a:endParaRPr lang="en-US" sz="6600" kern="1200">
              <a:solidFill>
                <a:schemeClr val="tx1"/>
              </a:solidFill>
              <a:latin typeface="+mj-lt"/>
              <a:ea typeface="+mj-ea"/>
              <a:cs typeface="+mj-cs"/>
            </a:endParaRPr>
          </a:p>
        </p:txBody>
      </p:sp>
      <p:sp>
        <p:nvSpPr>
          <p:cNvPr id="24"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50BA56E0-DF16-320C-A7A7-D396E47D1332}"/>
              </a:ext>
            </a:extLst>
          </p:cNvPr>
          <p:cNvPicPr>
            <a:picLocks noChangeAspect="1"/>
          </p:cNvPicPr>
          <p:nvPr/>
        </p:nvPicPr>
        <p:blipFill>
          <a:blip r:embed="rId2"/>
          <a:stretch>
            <a:fillRect/>
          </a:stretch>
        </p:blipFill>
        <p:spPr>
          <a:xfrm>
            <a:off x="4654296" y="1710831"/>
            <a:ext cx="7214616" cy="3408906"/>
          </a:xfrm>
          <a:prstGeom prst="rect">
            <a:avLst/>
          </a:prstGeom>
        </p:spPr>
      </p:pic>
      <p:sp>
        <p:nvSpPr>
          <p:cNvPr id="11" name="TextBox 10">
            <a:extLst>
              <a:ext uri="{FF2B5EF4-FFF2-40B4-BE49-F238E27FC236}">
                <a16:creationId xmlns:a16="http://schemas.microsoft.com/office/drawing/2014/main" id="{765641BE-8D08-0340-9EDA-CE9050ABDC7F}"/>
              </a:ext>
            </a:extLst>
          </p:cNvPr>
          <p:cNvSpPr txBox="1"/>
          <p:nvPr/>
        </p:nvSpPr>
        <p:spPr>
          <a:xfrm>
            <a:off x="646916" y="5302334"/>
            <a:ext cx="10791118" cy="984885"/>
          </a:xfrm>
          <a:prstGeom prst="rect">
            <a:avLst/>
          </a:prstGeom>
          <a:noFill/>
        </p:spPr>
        <p:txBody>
          <a:bodyPr wrap="square" rtlCol="0">
            <a:spAutoFit/>
          </a:bodyPr>
          <a:lstStyle/>
          <a:p>
            <a:r>
              <a:rPr lang="en-IN" sz="2000" b="1" u="sng" dirty="0"/>
              <a:t>Dataset Information </a:t>
            </a:r>
          </a:p>
          <a:p>
            <a:endParaRPr lang="en-IN" dirty="0"/>
          </a:p>
          <a:p>
            <a:r>
              <a:rPr lang="en-IN" dirty="0"/>
              <a:t>•  </a:t>
            </a:r>
            <a:r>
              <a:rPr lang="en-IN" sz="2000" b="1" dirty="0"/>
              <a:t>Records: 1470   •  Columns: 35   •  Target: Attrition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838200" y="365125"/>
            <a:ext cx="10515600" cy="1325563"/>
          </a:xfrm>
          <a:prstGeom prst="rect">
            <a:avLst/>
          </a:prstGeom>
        </p:spPr>
        <p:txBody>
          <a:bodyPr vert="horz" lIns="91440" tIns="45720" rIns="91440" bIns="45720" rtlCol="0" anchor="ctr">
            <a:normAutofit/>
          </a:bodyPr>
          <a:lstStyle/>
          <a:p>
            <a:pPr marL="457200" indent="-457200" defTabSz="914400">
              <a:lnSpc>
                <a:spcPct val="90000"/>
              </a:lnSpc>
              <a:spcBef>
                <a:spcPct val="0"/>
              </a:spcBef>
              <a:spcAft>
                <a:spcPts val="600"/>
              </a:spcAft>
              <a:defRPr sz="2800" b="1"/>
            </a:pPr>
            <a:r>
              <a:rPr lang="en-US" sz="5400" u="sng" kern="1200">
                <a:solidFill>
                  <a:schemeClr val="tx1"/>
                </a:solidFill>
                <a:latin typeface="+mj-lt"/>
                <a:ea typeface="+mj-ea"/>
                <a:cs typeface="+mj-cs"/>
              </a:rPr>
              <a:t>Data Preparation :-</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extBox 2">
            <a:extLst>
              <a:ext uri="{FF2B5EF4-FFF2-40B4-BE49-F238E27FC236}">
                <a16:creationId xmlns:a16="http://schemas.microsoft.com/office/drawing/2014/main" id="{9C8B3066-8209-531A-B88F-E1E7D78F4918}"/>
              </a:ext>
            </a:extLst>
          </p:cNvPr>
          <p:cNvGraphicFramePr/>
          <p:nvPr>
            <p:extLst>
              <p:ext uri="{D42A27DB-BD31-4B8C-83A1-F6EECF244321}">
                <p14:modId xmlns:p14="http://schemas.microsoft.com/office/powerpoint/2010/main" val="3222531323"/>
              </p:ext>
            </p:extLst>
          </p:nvPr>
        </p:nvGraphicFramePr>
        <p:xfrm>
          <a:off x="838200" y="2074101"/>
          <a:ext cx="10815320" cy="44187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DC07B27-4E3C-4BCF-ABDB-6AA72857C0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500"/>
            <a:ext cx="12191998" cy="6858000"/>
          </a:xfrm>
          <a:prstGeom prst="rect">
            <a:avLst/>
          </a:prstGeom>
          <a:gradFill>
            <a:gsLst>
              <a:gs pos="19000">
                <a:srgbClr val="000000">
                  <a:alpha val="96000"/>
                </a:srgbClr>
              </a:gs>
              <a:gs pos="100000">
                <a:schemeClr val="accent1"/>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3D11BE6-2A04-4DBB-842D-88602B5E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78536" y="12437"/>
            <a:ext cx="11713464" cy="6844063"/>
          </a:xfrm>
          <a:prstGeom prst="rect">
            <a:avLst/>
          </a:prstGeom>
          <a:gradFill>
            <a:gsLst>
              <a:gs pos="0">
                <a:srgbClr val="000000">
                  <a:alpha val="71765"/>
                </a:srgbClr>
              </a:gs>
              <a:gs pos="100000">
                <a:schemeClr val="accent1">
                  <a:alpha val="2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A05E02A-9AA9-45EC-B87B-B46F043F3F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 y="2724072"/>
            <a:ext cx="12192008" cy="4114801"/>
          </a:xfrm>
          <a:prstGeom prst="rect">
            <a:avLst/>
          </a:prstGeom>
          <a:gradFill>
            <a:gsLst>
              <a:gs pos="30000">
                <a:schemeClr val="accent1">
                  <a:lumMod val="75000"/>
                  <a:alpha val="19000"/>
                </a:schemeClr>
              </a:gs>
              <a:gs pos="100000">
                <a:schemeClr val="accent1">
                  <a:alpha val="2400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E91EDBA-E8E0-4575-8147-B700345215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09672" y="1716338"/>
            <a:ext cx="6858003" cy="3422328"/>
          </a:xfrm>
          <a:prstGeom prst="rect">
            <a:avLst/>
          </a:prstGeom>
          <a:gradFill>
            <a:gsLst>
              <a:gs pos="0">
                <a:schemeClr val="accent1">
                  <a:alpha val="52000"/>
                </a:schemeClr>
              </a:gs>
              <a:gs pos="76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1153236" y="559703"/>
            <a:ext cx="9867331" cy="1167495"/>
          </a:xfrm>
          <a:prstGeom prst="rect">
            <a:avLst/>
          </a:prstGeom>
        </p:spPr>
        <p:txBody>
          <a:bodyPr vert="horz" lIns="91440" tIns="45720" rIns="91440" bIns="45720" rtlCol="0" anchor="b">
            <a:normAutofit/>
          </a:bodyPr>
          <a:lstStyle/>
          <a:p>
            <a:pPr algn="ctr" defTabSz="914400">
              <a:lnSpc>
                <a:spcPct val="90000"/>
              </a:lnSpc>
              <a:spcBef>
                <a:spcPct val="0"/>
              </a:spcBef>
              <a:spcAft>
                <a:spcPts val="600"/>
              </a:spcAft>
              <a:defRPr sz="2800" b="1"/>
            </a:pPr>
            <a:r>
              <a:rPr lang="en-US" sz="4800">
                <a:solidFill>
                  <a:srgbClr val="FFFFFF"/>
                </a:solidFill>
                <a:latin typeface="+mj-lt"/>
                <a:ea typeface="+mj-ea"/>
                <a:cs typeface="+mj-cs"/>
              </a:rPr>
              <a:t>KPI Dashboard</a:t>
            </a:r>
          </a:p>
        </p:txBody>
      </p:sp>
      <p:sp>
        <p:nvSpPr>
          <p:cNvPr id="23" name="Rectangle 22">
            <a:extLst>
              <a:ext uri="{FF2B5EF4-FFF2-40B4-BE49-F238E27FC236}">
                <a16:creationId xmlns:a16="http://schemas.microsoft.com/office/drawing/2014/main" id="{DFEE4473-A122-4E96-8C31-B4C5AAA27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123" y="2706446"/>
            <a:ext cx="12191997" cy="3711900"/>
          </a:xfrm>
          <a:prstGeom prst="rect">
            <a:avLst/>
          </a:prstGeom>
          <a:gradFill>
            <a:gsLst>
              <a:gs pos="0">
                <a:srgbClr val="000000">
                  <a:alpha val="50000"/>
                </a:srgbClr>
              </a:gs>
              <a:gs pos="92000">
                <a:schemeClr val="accent1">
                  <a:lumMod val="75000"/>
                  <a:alpha val="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5C220E4C-5042-AE37-81A9-CBEF1BBAB41E}"/>
              </a:ext>
            </a:extLst>
          </p:cNvPr>
          <p:cNvPicPr>
            <a:picLocks noChangeAspect="1"/>
          </p:cNvPicPr>
          <p:nvPr/>
        </p:nvPicPr>
        <p:blipFill>
          <a:blip r:embed="rId2"/>
          <a:stretch>
            <a:fillRect/>
          </a:stretch>
        </p:blipFill>
        <p:spPr>
          <a:xfrm>
            <a:off x="1159798" y="2132099"/>
            <a:ext cx="2764796" cy="3218041"/>
          </a:xfrm>
          <a:prstGeom prst="rect">
            <a:avLst/>
          </a:prstGeom>
        </p:spPr>
      </p:pic>
      <p:pic>
        <p:nvPicPr>
          <p:cNvPr id="10" name="Picture 9">
            <a:extLst>
              <a:ext uri="{FF2B5EF4-FFF2-40B4-BE49-F238E27FC236}">
                <a16:creationId xmlns:a16="http://schemas.microsoft.com/office/drawing/2014/main" id="{9F7ADF1C-C09E-DAE0-BEA3-A2B4E730C1D7}"/>
              </a:ext>
            </a:extLst>
          </p:cNvPr>
          <p:cNvPicPr>
            <a:picLocks noChangeAspect="1"/>
          </p:cNvPicPr>
          <p:nvPr/>
        </p:nvPicPr>
        <p:blipFill>
          <a:blip r:embed="rId3"/>
          <a:stretch>
            <a:fillRect/>
          </a:stretch>
        </p:blipFill>
        <p:spPr>
          <a:xfrm>
            <a:off x="4510584" y="2519452"/>
            <a:ext cx="3179928" cy="2443334"/>
          </a:xfrm>
          <a:prstGeom prst="rect">
            <a:avLst/>
          </a:prstGeom>
        </p:spPr>
      </p:pic>
      <p:pic>
        <p:nvPicPr>
          <p:cNvPr id="6" name="Picture 5">
            <a:extLst>
              <a:ext uri="{FF2B5EF4-FFF2-40B4-BE49-F238E27FC236}">
                <a16:creationId xmlns:a16="http://schemas.microsoft.com/office/drawing/2014/main" id="{5AF3F2BF-2A35-8E2D-EA91-B4DCCB9662E8}"/>
              </a:ext>
            </a:extLst>
          </p:cNvPr>
          <p:cNvPicPr>
            <a:picLocks noChangeAspect="1"/>
          </p:cNvPicPr>
          <p:nvPr/>
        </p:nvPicPr>
        <p:blipFill>
          <a:blip r:embed="rId4"/>
          <a:stretch>
            <a:fillRect/>
          </a:stretch>
        </p:blipFill>
        <p:spPr>
          <a:xfrm>
            <a:off x="8433033" y="2132099"/>
            <a:ext cx="2433542" cy="321804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87507"/>
            <a:ext cx="4414991" cy="523220"/>
          </a:xfrm>
          <a:prstGeom prst="rect">
            <a:avLst/>
          </a:prstGeom>
          <a:noFill/>
        </p:spPr>
        <p:txBody>
          <a:bodyPr wrap="none">
            <a:spAutoFit/>
          </a:bodyPr>
          <a:lstStyle/>
          <a:p>
            <a:pPr marL="457200" indent="-457200">
              <a:buFont typeface="Wingdings" panose="05000000000000000000" pitchFamily="2" charset="2"/>
              <a:buChar char="v"/>
              <a:defRPr sz="2800" b="1"/>
            </a:pPr>
            <a:r>
              <a:rPr u="sng" dirty="0"/>
              <a:t>Department &amp; Job Role</a:t>
            </a:r>
            <a:r>
              <a:rPr lang="en-US" u="sng" dirty="0"/>
              <a:t> :-</a:t>
            </a:r>
            <a:endParaRPr u="sng" dirty="0"/>
          </a:p>
        </p:txBody>
      </p:sp>
      <p:sp>
        <p:nvSpPr>
          <p:cNvPr id="3" name="TextBox 2"/>
          <p:cNvSpPr txBox="1"/>
          <p:nvPr/>
        </p:nvSpPr>
        <p:spPr>
          <a:xfrm>
            <a:off x="548640" y="486211"/>
            <a:ext cx="6392934" cy="6047809"/>
          </a:xfrm>
          <a:prstGeom prst="rect">
            <a:avLst/>
          </a:prstGeom>
          <a:noFill/>
        </p:spPr>
        <p:txBody>
          <a:bodyPr wrap="square">
            <a:spAutoFit/>
          </a:bodyPr>
          <a:lstStyle/>
          <a:p>
            <a:pPr marL="342900" indent="-342900">
              <a:lnSpc>
                <a:spcPct val="150000"/>
              </a:lnSpc>
              <a:buFont typeface="Wingdings" panose="05000000000000000000" pitchFamily="2" charset="2"/>
              <a:buChar char="Ø"/>
              <a:defRPr sz="2000"/>
            </a:pPr>
            <a:r>
              <a:rPr lang="en-IN" sz="2400" b="1" u="sng" dirty="0"/>
              <a:t>Department Analysis :-</a:t>
            </a:r>
            <a:endParaRPr lang="en-IN" sz="1000" b="1" dirty="0"/>
          </a:p>
          <a:p>
            <a:pPr marL="342900" indent="-342900">
              <a:lnSpc>
                <a:spcPct val="150000"/>
              </a:lnSpc>
              <a:buFont typeface="Wingdings" panose="05000000000000000000" pitchFamily="2" charset="2"/>
              <a:buChar char="ü"/>
            </a:pPr>
            <a:r>
              <a:rPr lang="en-IN" sz="2000" b="1" u="sng" dirty="0"/>
              <a:t>Key Insights :- </a:t>
            </a:r>
            <a:endParaRPr lang="en-IN" u="sng" dirty="0"/>
          </a:p>
          <a:p>
            <a:pPr marL="285750" indent="-285750">
              <a:lnSpc>
                <a:spcPct val="150000"/>
              </a:lnSpc>
              <a:buFont typeface="Arial" panose="020B0604020202020204" pitchFamily="34" charset="0"/>
              <a:buChar char="•"/>
            </a:pPr>
            <a:r>
              <a:rPr lang="en-IN" dirty="0"/>
              <a:t>The </a:t>
            </a:r>
            <a:r>
              <a:rPr lang="en-IN" b="1" dirty="0"/>
              <a:t>Research &amp; Development</a:t>
            </a:r>
            <a:r>
              <a:rPr lang="en-IN" dirty="0"/>
              <a:t> department has the highest number of employees leaving the organization. </a:t>
            </a:r>
            <a:endParaRPr lang="en-IN" b="1" dirty="0"/>
          </a:p>
          <a:p>
            <a:pPr marL="285750" indent="-285750">
              <a:lnSpc>
                <a:spcPct val="150000"/>
              </a:lnSpc>
              <a:buFont typeface="Arial" panose="020B0604020202020204" pitchFamily="34" charset="0"/>
              <a:buChar char="•"/>
            </a:pPr>
            <a:r>
              <a:rPr lang="en-IN" b="1" dirty="0"/>
              <a:t>Sales</a:t>
            </a:r>
            <a:r>
              <a:rPr lang="en-IN" dirty="0"/>
              <a:t> also experiences a considerable level of attrition. </a:t>
            </a:r>
          </a:p>
          <a:p>
            <a:pPr marL="285750" indent="-285750">
              <a:lnSpc>
                <a:spcPct val="150000"/>
              </a:lnSpc>
              <a:buFont typeface="Arial" panose="020B0604020202020204" pitchFamily="34" charset="0"/>
              <a:buChar char="•"/>
            </a:pPr>
            <a:r>
              <a:rPr lang="en-IN" dirty="0"/>
              <a:t>The </a:t>
            </a:r>
            <a:r>
              <a:rPr lang="en-IN" b="1" dirty="0"/>
              <a:t>Human Resources</a:t>
            </a:r>
            <a:r>
              <a:rPr lang="en-IN" dirty="0"/>
              <a:t> department records the lowest employee attrition.</a:t>
            </a:r>
          </a:p>
          <a:p>
            <a:pPr marL="342900" indent="-342900">
              <a:lnSpc>
                <a:spcPct val="150000"/>
              </a:lnSpc>
              <a:buFont typeface="Wingdings" panose="05000000000000000000" pitchFamily="2" charset="2"/>
              <a:buChar char="Ø"/>
            </a:pPr>
            <a:r>
              <a:rPr lang="en-IN" sz="2400" b="1" u="sng" dirty="0"/>
              <a:t>Job Role Analysis:-</a:t>
            </a:r>
          </a:p>
          <a:p>
            <a:pPr marL="342900" indent="-342900">
              <a:buFont typeface="Wingdings" panose="05000000000000000000" pitchFamily="2" charset="2"/>
              <a:buChar char="ü"/>
            </a:pPr>
            <a:r>
              <a:rPr lang="en-IN" sz="2200" b="1" u="sng" dirty="0"/>
              <a:t>Key Insights :-</a:t>
            </a:r>
          </a:p>
          <a:p>
            <a:pPr marL="285750" indent="-285750">
              <a:lnSpc>
                <a:spcPct val="150000"/>
              </a:lnSpc>
              <a:buFont typeface="Arial" panose="020B0604020202020204" pitchFamily="34" charset="0"/>
              <a:buChar char="•"/>
            </a:pPr>
            <a:r>
              <a:rPr lang="en-IN" dirty="0"/>
              <a:t>Certain job roles contribute more significantly to employee attrition than others. </a:t>
            </a:r>
          </a:p>
          <a:p>
            <a:pPr marL="285750" indent="-285750">
              <a:lnSpc>
                <a:spcPct val="150000"/>
              </a:lnSpc>
              <a:buFont typeface="Arial" panose="020B0604020202020204" pitchFamily="34" charset="0"/>
              <a:buChar char="•"/>
            </a:pPr>
            <a:r>
              <a:rPr lang="en-IN" dirty="0"/>
              <a:t>Job roles with higher workloads or limited career growth opportunities tend to have higher attrition. </a:t>
            </a:r>
            <a:endParaRPr lang="en-IN" sz="2400" b="1" u="sng" dirty="0"/>
          </a:p>
          <a:p>
            <a:pPr>
              <a:defRPr sz="2000"/>
            </a:pPr>
            <a:endParaRPr dirty="0"/>
          </a:p>
        </p:txBody>
      </p:sp>
      <p:sp>
        <p:nvSpPr>
          <p:cNvPr id="5" name="Rectangle 4">
            <a:extLst>
              <a:ext uri="{FF2B5EF4-FFF2-40B4-BE49-F238E27FC236}">
                <a16:creationId xmlns:a16="http://schemas.microsoft.com/office/drawing/2014/main" id="{C238BDDB-9411-D489-31AB-BBF91CE59C93}"/>
              </a:ext>
            </a:extLst>
          </p:cNvPr>
          <p:cNvSpPr/>
          <p:nvPr/>
        </p:nvSpPr>
        <p:spPr>
          <a:xfrm>
            <a:off x="6548284" y="87508"/>
            <a:ext cx="5348748" cy="2970324"/>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B0FD025F-4DE5-0217-8A88-57024CBB8541}"/>
              </a:ext>
            </a:extLst>
          </p:cNvPr>
          <p:cNvSpPr/>
          <p:nvPr/>
        </p:nvSpPr>
        <p:spPr>
          <a:xfrm>
            <a:off x="6548284" y="3274142"/>
            <a:ext cx="5348748" cy="3259878"/>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28913" y="0"/>
            <a:ext cx="4220451" cy="523220"/>
          </a:xfrm>
          <a:prstGeom prst="rect">
            <a:avLst/>
          </a:prstGeom>
          <a:noFill/>
        </p:spPr>
        <p:txBody>
          <a:bodyPr wrap="none">
            <a:spAutoFit/>
          </a:bodyPr>
          <a:lstStyle/>
          <a:p>
            <a:pPr marL="457200" indent="-457200">
              <a:buFont typeface="Wingdings" panose="05000000000000000000" pitchFamily="2" charset="2"/>
              <a:buChar char="v"/>
              <a:defRPr sz="2800" b="1"/>
            </a:pPr>
            <a:r>
              <a:rPr u="sng" dirty="0"/>
              <a:t>Demographic Analysis</a:t>
            </a:r>
            <a:r>
              <a:rPr lang="en-US" u="sng" dirty="0"/>
              <a:t> :-</a:t>
            </a:r>
            <a:endParaRPr u="sng" dirty="0"/>
          </a:p>
        </p:txBody>
      </p:sp>
      <p:sp>
        <p:nvSpPr>
          <p:cNvPr id="3" name="TextBox 2"/>
          <p:cNvSpPr txBox="1"/>
          <p:nvPr/>
        </p:nvSpPr>
        <p:spPr>
          <a:xfrm>
            <a:off x="361827" y="261610"/>
            <a:ext cx="5734173" cy="6909584"/>
          </a:xfrm>
          <a:prstGeom prst="rect">
            <a:avLst/>
          </a:prstGeom>
          <a:noFill/>
        </p:spPr>
        <p:txBody>
          <a:bodyPr wrap="square">
            <a:spAutoFit/>
          </a:bodyPr>
          <a:lstStyle/>
          <a:p>
            <a:pPr marL="342900" indent="-342900">
              <a:lnSpc>
                <a:spcPct val="150000"/>
              </a:lnSpc>
              <a:buFont typeface="Wingdings" panose="05000000000000000000" pitchFamily="2" charset="2"/>
              <a:buChar char="Ø"/>
              <a:defRPr sz="2000"/>
            </a:pPr>
            <a:r>
              <a:rPr lang="en-IN" sz="2400" b="1" u="sng" dirty="0"/>
              <a:t>Attrition by Gender</a:t>
            </a:r>
          </a:p>
          <a:p>
            <a:pPr marL="285750" indent="-285750">
              <a:lnSpc>
                <a:spcPct val="150000"/>
              </a:lnSpc>
              <a:buFont typeface="Wingdings" panose="05000000000000000000" pitchFamily="2" charset="2"/>
              <a:buChar char="ü"/>
            </a:pPr>
            <a:r>
              <a:rPr lang="en-IN" b="1" u="sng" dirty="0"/>
              <a:t>Key Insights</a:t>
            </a:r>
          </a:p>
          <a:p>
            <a:pPr marL="285750" indent="-285750">
              <a:lnSpc>
                <a:spcPct val="150000"/>
              </a:lnSpc>
              <a:buFont typeface="Arial" panose="020B0604020202020204" pitchFamily="34" charset="0"/>
              <a:buChar char="•"/>
            </a:pPr>
            <a:r>
              <a:rPr lang="en-IN" dirty="0"/>
              <a:t>The chart compares employee attrition between </a:t>
            </a:r>
            <a:r>
              <a:rPr lang="en-IN" b="1" dirty="0"/>
              <a:t>Male</a:t>
            </a:r>
            <a:r>
              <a:rPr lang="en-IN" dirty="0"/>
              <a:t> and </a:t>
            </a:r>
            <a:r>
              <a:rPr lang="en-IN" b="1" dirty="0"/>
              <a:t>Female</a:t>
            </a:r>
            <a:r>
              <a:rPr lang="en-IN" dirty="0"/>
              <a:t> employees. </a:t>
            </a:r>
          </a:p>
          <a:p>
            <a:pPr marL="285750" indent="-285750">
              <a:lnSpc>
                <a:spcPct val="150000"/>
              </a:lnSpc>
              <a:buFont typeface="Arial" panose="020B0604020202020204" pitchFamily="34" charset="0"/>
              <a:buChar char="•"/>
            </a:pPr>
            <a:r>
              <a:rPr lang="en-IN" dirty="0"/>
              <a:t>It helps identify whether one gender experiences higher attrition. </a:t>
            </a:r>
          </a:p>
          <a:p>
            <a:pPr marL="285750" indent="-285750">
              <a:lnSpc>
                <a:spcPct val="150000"/>
              </a:lnSpc>
              <a:buFont typeface="Arial" panose="020B0604020202020204" pitchFamily="34" charset="0"/>
              <a:buChar char="•"/>
            </a:pPr>
            <a:r>
              <a:rPr lang="en-IN" dirty="0"/>
              <a:t>HR can use this information to evaluate workforce diversity and employee retention.</a:t>
            </a:r>
          </a:p>
          <a:p>
            <a:pPr marL="342900" indent="-342900">
              <a:lnSpc>
                <a:spcPct val="150000"/>
              </a:lnSpc>
              <a:buFont typeface="Wingdings" panose="05000000000000000000" pitchFamily="2" charset="2"/>
              <a:buChar char="Ø"/>
              <a:defRPr sz="2000"/>
            </a:pPr>
            <a:r>
              <a:rPr lang="en-IN" sz="2400" b="1" u="sng" dirty="0"/>
              <a:t>Attrition by Age Group</a:t>
            </a:r>
            <a:endParaRPr lang="en-IN" b="1" u="sng" dirty="0"/>
          </a:p>
          <a:p>
            <a:pPr marL="285750" indent="-285750">
              <a:lnSpc>
                <a:spcPct val="150000"/>
              </a:lnSpc>
              <a:buFont typeface="Wingdings" panose="05000000000000000000" pitchFamily="2" charset="2"/>
              <a:buChar char="ü"/>
            </a:pPr>
            <a:r>
              <a:rPr lang="en-IN" b="1" u="sng" dirty="0"/>
              <a:t>Key Insights</a:t>
            </a:r>
          </a:p>
          <a:p>
            <a:pPr marL="285750" indent="-285750">
              <a:lnSpc>
                <a:spcPct val="150000"/>
              </a:lnSpc>
              <a:buFont typeface="Arial" panose="020B0604020202020204" pitchFamily="34" charset="0"/>
              <a:buChar char="•"/>
            </a:pPr>
            <a:r>
              <a:rPr lang="en-IN" dirty="0"/>
              <a:t>The chart shows attrition across different age groups. </a:t>
            </a:r>
          </a:p>
          <a:p>
            <a:pPr marL="285750" indent="-285750">
              <a:lnSpc>
                <a:spcPct val="150000"/>
              </a:lnSpc>
              <a:buFont typeface="Arial" panose="020B0604020202020204" pitchFamily="34" charset="0"/>
              <a:buChar char="•"/>
            </a:pPr>
            <a:r>
              <a:rPr lang="en-IN" dirty="0"/>
              <a:t>It helps identify the age category with the highest employee turnover. </a:t>
            </a:r>
          </a:p>
          <a:p>
            <a:pPr marL="285750" indent="-285750">
              <a:lnSpc>
                <a:spcPct val="150000"/>
              </a:lnSpc>
              <a:buFont typeface="Arial" panose="020B0604020202020204" pitchFamily="34" charset="0"/>
              <a:buChar char="•"/>
            </a:pPr>
            <a:r>
              <a:rPr lang="en-IN" dirty="0"/>
              <a:t>Understanding age-related attrition supports better workforce planning and targeted retention initiatives.</a:t>
            </a:r>
          </a:p>
          <a:p>
            <a:pPr>
              <a:defRPr sz="2000"/>
            </a:pPr>
            <a:endParaRPr dirty="0"/>
          </a:p>
        </p:txBody>
      </p:sp>
      <p:sp>
        <p:nvSpPr>
          <p:cNvPr id="5" name="Rectangle 4">
            <a:extLst>
              <a:ext uri="{FF2B5EF4-FFF2-40B4-BE49-F238E27FC236}">
                <a16:creationId xmlns:a16="http://schemas.microsoft.com/office/drawing/2014/main" id="{4F037343-70C2-B8A0-CD84-6079384B850F}"/>
              </a:ext>
            </a:extLst>
          </p:cNvPr>
          <p:cNvSpPr/>
          <p:nvPr/>
        </p:nvSpPr>
        <p:spPr>
          <a:xfrm>
            <a:off x="5958348" y="658761"/>
            <a:ext cx="5734173" cy="2644878"/>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41AAC968-6632-ADC9-5456-40BB521CB96C}"/>
              </a:ext>
            </a:extLst>
          </p:cNvPr>
          <p:cNvSpPr/>
          <p:nvPr/>
        </p:nvSpPr>
        <p:spPr>
          <a:xfrm>
            <a:off x="5958348" y="3429000"/>
            <a:ext cx="5734173" cy="3256935"/>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83858" y="117004"/>
            <a:ext cx="3463512" cy="523220"/>
          </a:xfrm>
          <a:prstGeom prst="rect">
            <a:avLst/>
          </a:prstGeom>
          <a:noFill/>
        </p:spPr>
        <p:txBody>
          <a:bodyPr wrap="none">
            <a:spAutoFit/>
          </a:bodyPr>
          <a:lstStyle/>
          <a:p>
            <a:pPr marL="457200" indent="-457200">
              <a:buFont typeface="Wingdings" panose="05000000000000000000" pitchFamily="2" charset="2"/>
              <a:buChar char="v"/>
              <a:defRPr sz="2800" b="1"/>
            </a:pPr>
            <a:r>
              <a:rPr u="sng" dirty="0"/>
              <a:t>Employee Profile</a:t>
            </a:r>
            <a:r>
              <a:rPr lang="en-US" u="sng" dirty="0"/>
              <a:t> :-</a:t>
            </a:r>
            <a:endParaRPr u="sng" dirty="0"/>
          </a:p>
        </p:txBody>
      </p:sp>
      <p:sp>
        <p:nvSpPr>
          <p:cNvPr id="5" name="TextBox 4">
            <a:extLst>
              <a:ext uri="{FF2B5EF4-FFF2-40B4-BE49-F238E27FC236}">
                <a16:creationId xmlns:a16="http://schemas.microsoft.com/office/drawing/2014/main" id="{2EEEFF5B-84BE-8CB3-74A7-F8AAE700E1D0}"/>
              </a:ext>
            </a:extLst>
          </p:cNvPr>
          <p:cNvSpPr txBox="1"/>
          <p:nvPr/>
        </p:nvSpPr>
        <p:spPr>
          <a:xfrm>
            <a:off x="550606" y="574352"/>
            <a:ext cx="6066504" cy="5964100"/>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IN" sz="2000" b="1" u="sng" dirty="0"/>
              <a:t>Purpose :-</a:t>
            </a:r>
          </a:p>
          <a:p>
            <a:pPr marL="285750" indent="-285750">
              <a:lnSpc>
                <a:spcPct val="150000"/>
              </a:lnSpc>
              <a:buFont typeface="Arial" panose="020B0604020202020204" pitchFamily="34" charset="0"/>
              <a:buChar char="•"/>
            </a:pPr>
            <a:r>
              <a:rPr lang="en-IN" dirty="0" err="1"/>
              <a:t>Analyze</a:t>
            </a:r>
            <a:r>
              <a:rPr lang="en-IN" dirty="0"/>
              <a:t> how </a:t>
            </a:r>
            <a:r>
              <a:rPr lang="en-IN" b="1" dirty="0"/>
              <a:t>Education Field</a:t>
            </a:r>
            <a:r>
              <a:rPr lang="en-IN" dirty="0"/>
              <a:t>, </a:t>
            </a:r>
            <a:r>
              <a:rPr lang="en-IN" b="1" dirty="0"/>
              <a:t>Overtime</a:t>
            </a:r>
            <a:r>
              <a:rPr lang="en-IN" dirty="0"/>
              <a:t>, and </a:t>
            </a:r>
            <a:r>
              <a:rPr lang="en-IN" b="1" dirty="0"/>
              <a:t>Business Travel</a:t>
            </a:r>
            <a:r>
              <a:rPr lang="en-IN" dirty="0"/>
              <a:t> influence employee attrition.</a:t>
            </a:r>
          </a:p>
          <a:p>
            <a:pPr marL="342900" indent="-342900">
              <a:lnSpc>
                <a:spcPct val="150000"/>
              </a:lnSpc>
              <a:buFont typeface="Wingdings" panose="05000000000000000000" pitchFamily="2" charset="2"/>
              <a:buChar char="Ø"/>
            </a:pPr>
            <a:r>
              <a:rPr lang="en-IN" sz="2000" b="1" u="sng" dirty="0"/>
              <a:t>Education Field :-</a:t>
            </a:r>
          </a:p>
          <a:p>
            <a:pPr marL="285750" indent="-285750">
              <a:lnSpc>
                <a:spcPct val="150000"/>
              </a:lnSpc>
              <a:buFont typeface="Wingdings" panose="05000000000000000000" pitchFamily="2" charset="2"/>
              <a:buChar char="ü"/>
            </a:pPr>
            <a:r>
              <a:rPr lang="en-IN" b="1" u="sng" dirty="0"/>
              <a:t>Key Insights</a:t>
            </a:r>
          </a:p>
          <a:p>
            <a:pPr marL="285750" indent="-285750">
              <a:lnSpc>
                <a:spcPct val="150000"/>
              </a:lnSpc>
              <a:buFont typeface="Arial" panose="020B0604020202020204" pitchFamily="34" charset="0"/>
              <a:buChar char="•"/>
            </a:pPr>
            <a:r>
              <a:rPr lang="en-IN" dirty="0"/>
              <a:t>Compares attrition across different education fields. </a:t>
            </a:r>
          </a:p>
          <a:p>
            <a:pPr marL="285750" indent="-285750">
              <a:lnSpc>
                <a:spcPct val="150000"/>
              </a:lnSpc>
              <a:buFont typeface="Arial" panose="020B0604020202020204" pitchFamily="34" charset="0"/>
              <a:buChar char="•"/>
            </a:pPr>
            <a:r>
              <a:rPr lang="en-IN" dirty="0"/>
              <a:t>Identifies which educational background has the highest employee turnover. </a:t>
            </a:r>
          </a:p>
          <a:p>
            <a:pPr marL="342900" indent="-342900">
              <a:lnSpc>
                <a:spcPct val="150000"/>
              </a:lnSpc>
              <a:buFont typeface="Wingdings" panose="05000000000000000000" pitchFamily="2" charset="2"/>
              <a:buChar char="Ø"/>
            </a:pPr>
            <a:r>
              <a:rPr lang="en-IN" sz="2000" b="1" u="sng" dirty="0"/>
              <a:t>Overtime :- </a:t>
            </a:r>
          </a:p>
          <a:p>
            <a:pPr marL="285750" indent="-285750">
              <a:lnSpc>
                <a:spcPct val="150000"/>
              </a:lnSpc>
              <a:buFont typeface="Wingdings" panose="05000000000000000000" pitchFamily="2" charset="2"/>
              <a:buChar char="ü"/>
            </a:pPr>
            <a:r>
              <a:rPr lang="en-IN" b="1" u="sng" dirty="0"/>
              <a:t>Key Insights</a:t>
            </a:r>
          </a:p>
          <a:p>
            <a:pPr marL="285750" indent="-285750">
              <a:lnSpc>
                <a:spcPct val="150000"/>
              </a:lnSpc>
              <a:buFont typeface="Arial" panose="020B0604020202020204" pitchFamily="34" charset="0"/>
              <a:buChar char="•"/>
            </a:pPr>
            <a:r>
              <a:rPr lang="en-IN" dirty="0"/>
              <a:t>Compares attrition between employees who work overtime and those who do not. </a:t>
            </a:r>
          </a:p>
          <a:p>
            <a:pPr marL="285750" indent="-285750">
              <a:lnSpc>
                <a:spcPct val="150000"/>
              </a:lnSpc>
              <a:buFont typeface="Arial" panose="020B0604020202020204" pitchFamily="34" charset="0"/>
              <a:buChar char="•"/>
            </a:pPr>
            <a:r>
              <a:rPr lang="en-IN" dirty="0"/>
              <a:t>Highlights the impact of overtime on employee retention. </a:t>
            </a:r>
          </a:p>
          <a:p>
            <a:endParaRPr lang="en-IN" dirty="0"/>
          </a:p>
        </p:txBody>
      </p:sp>
      <p:sp>
        <p:nvSpPr>
          <p:cNvPr id="6" name="Rectangle: Rounded Corners 5">
            <a:extLst>
              <a:ext uri="{FF2B5EF4-FFF2-40B4-BE49-F238E27FC236}">
                <a16:creationId xmlns:a16="http://schemas.microsoft.com/office/drawing/2014/main" id="{2344C808-E0FD-90F7-3199-EF0D0627CD6C}"/>
              </a:ext>
            </a:extLst>
          </p:cNvPr>
          <p:cNvSpPr/>
          <p:nvPr/>
        </p:nvSpPr>
        <p:spPr>
          <a:xfrm>
            <a:off x="6096001" y="835742"/>
            <a:ext cx="5545394" cy="2408903"/>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B3D98142-6AE7-CD0E-1354-CB2CFE777E1F}"/>
              </a:ext>
            </a:extLst>
          </p:cNvPr>
          <p:cNvSpPr/>
          <p:nvPr/>
        </p:nvSpPr>
        <p:spPr>
          <a:xfrm>
            <a:off x="6528618" y="3429000"/>
            <a:ext cx="5417575" cy="3040626"/>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18155" y="107172"/>
            <a:ext cx="3925498" cy="523220"/>
          </a:xfrm>
          <a:prstGeom prst="rect">
            <a:avLst/>
          </a:prstGeom>
          <a:noFill/>
        </p:spPr>
        <p:txBody>
          <a:bodyPr wrap="none">
            <a:spAutoFit/>
          </a:bodyPr>
          <a:lstStyle/>
          <a:p>
            <a:pPr marL="457200" indent="-457200">
              <a:buFont typeface="Wingdings" panose="05000000000000000000" pitchFamily="2" charset="2"/>
              <a:buChar char="v"/>
              <a:defRPr sz="2800" b="1"/>
            </a:pPr>
            <a:r>
              <a:rPr u="sng" dirty="0"/>
              <a:t>Employee Satisfaction</a:t>
            </a:r>
          </a:p>
        </p:txBody>
      </p:sp>
      <p:sp>
        <p:nvSpPr>
          <p:cNvPr id="3" name="TextBox 2"/>
          <p:cNvSpPr txBox="1"/>
          <p:nvPr/>
        </p:nvSpPr>
        <p:spPr>
          <a:xfrm>
            <a:off x="440224" y="368782"/>
            <a:ext cx="10881360" cy="6771084"/>
          </a:xfrm>
          <a:prstGeom prst="rect">
            <a:avLst/>
          </a:prstGeom>
          <a:noFill/>
        </p:spPr>
        <p:txBody>
          <a:bodyPr wrap="square">
            <a:spAutoFit/>
          </a:bodyPr>
          <a:lstStyle/>
          <a:p>
            <a:pPr marL="342900" indent="-342900">
              <a:lnSpc>
                <a:spcPct val="150000"/>
              </a:lnSpc>
              <a:buFont typeface="Wingdings" panose="05000000000000000000" pitchFamily="2" charset="2"/>
              <a:buChar char="Ø"/>
              <a:defRPr sz="2000"/>
            </a:pPr>
            <a:r>
              <a:rPr lang="en-IN" sz="2400" b="1" u="sng" dirty="0"/>
              <a:t>Monthly Income Distribution</a:t>
            </a:r>
          </a:p>
          <a:p>
            <a:pPr marL="342900" indent="-342900">
              <a:lnSpc>
                <a:spcPct val="150000"/>
              </a:lnSpc>
              <a:buFont typeface="Wingdings" panose="05000000000000000000" pitchFamily="2" charset="2"/>
              <a:buChar char="ü"/>
            </a:pPr>
            <a:r>
              <a:rPr lang="en-IN" sz="2000" b="1" u="sng" dirty="0"/>
              <a:t>Key Insights</a:t>
            </a:r>
          </a:p>
          <a:p>
            <a:pPr marL="285750" indent="-285750">
              <a:lnSpc>
                <a:spcPct val="150000"/>
              </a:lnSpc>
              <a:buFont typeface="Arial" panose="020B0604020202020204" pitchFamily="34" charset="0"/>
              <a:buChar char="•"/>
            </a:pPr>
            <a:r>
              <a:rPr lang="en-IN" dirty="0"/>
              <a:t>Displays the distribution of employees across different salary ranges. </a:t>
            </a:r>
          </a:p>
          <a:p>
            <a:pPr marL="285750" indent="-285750">
              <a:lnSpc>
                <a:spcPct val="150000"/>
              </a:lnSpc>
              <a:buFont typeface="Arial" panose="020B0604020202020204" pitchFamily="34" charset="0"/>
              <a:buChar char="•"/>
            </a:pPr>
            <a:r>
              <a:rPr lang="en-IN" dirty="0"/>
              <a:t>Helps identify the most common income levels within the organization. </a:t>
            </a:r>
          </a:p>
          <a:p>
            <a:pPr marL="285750" indent="-285750">
              <a:lnSpc>
                <a:spcPct val="150000"/>
              </a:lnSpc>
              <a:buFont typeface="Arial" panose="020B0604020202020204" pitchFamily="34" charset="0"/>
              <a:buChar char="•"/>
            </a:pPr>
            <a:r>
              <a:rPr lang="en-IN" dirty="0"/>
              <a:t>Useful for </a:t>
            </a:r>
            <a:r>
              <a:rPr lang="en-IN" dirty="0" err="1"/>
              <a:t>analyzing</a:t>
            </a:r>
            <a:r>
              <a:rPr lang="en-IN" dirty="0"/>
              <a:t> whether compensation influences employee retention.</a:t>
            </a:r>
          </a:p>
          <a:p>
            <a:pPr marL="342900" indent="-342900">
              <a:lnSpc>
                <a:spcPct val="150000"/>
              </a:lnSpc>
              <a:buFont typeface="Wingdings" panose="05000000000000000000" pitchFamily="2" charset="2"/>
              <a:buChar char="Ø"/>
              <a:defRPr sz="2000"/>
            </a:pPr>
            <a:r>
              <a:rPr lang="en-IN" sz="2400" b="1" u="sng" dirty="0"/>
              <a:t>Job Satisfaction</a:t>
            </a:r>
          </a:p>
          <a:p>
            <a:pPr marL="342900" indent="-342900">
              <a:lnSpc>
                <a:spcPct val="150000"/>
              </a:lnSpc>
              <a:buFont typeface="Wingdings" panose="05000000000000000000" pitchFamily="2" charset="2"/>
              <a:buChar char="ü"/>
            </a:pPr>
            <a:r>
              <a:rPr lang="en-IN" sz="2000" b="1" u="sng" dirty="0"/>
              <a:t>Key Insights</a:t>
            </a:r>
          </a:p>
          <a:p>
            <a:pPr marL="285750" indent="-285750">
              <a:lnSpc>
                <a:spcPct val="150000"/>
              </a:lnSpc>
              <a:buFont typeface="Arial" panose="020B0604020202020204" pitchFamily="34" charset="0"/>
              <a:buChar char="•"/>
            </a:pPr>
            <a:r>
              <a:rPr lang="en-IN" dirty="0"/>
              <a:t>Shows employee distribution across different job satisfaction levels. </a:t>
            </a:r>
          </a:p>
          <a:p>
            <a:pPr marL="285750" indent="-285750">
              <a:lnSpc>
                <a:spcPct val="150000"/>
              </a:lnSpc>
              <a:buFont typeface="Arial" panose="020B0604020202020204" pitchFamily="34" charset="0"/>
              <a:buChar char="•"/>
            </a:pPr>
            <a:r>
              <a:rPr lang="en-IN" dirty="0"/>
              <a:t>Higher satisfaction generally indicates a more engaged workforce. </a:t>
            </a:r>
          </a:p>
          <a:p>
            <a:pPr marL="285750" indent="-285750">
              <a:lnSpc>
                <a:spcPct val="150000"/>
              </a:lnSpc>
              <a:buFont typeface="Arial" panose="020B0604020202020204" pitchFamily="34" charset="0"/>
              <a:buChar char="•"/>
            </a:pPr>
            <a:r>
              <a:rPr lang="en-IN" dirty="0"/>
              <a:t>Helps HR identify areas where employee engagement can be improved.</a:t>
            </a:r>
          </a:p>
          <a:p>
            <a:pPr marL="342900" indent="-342900">
              <a:lnSpc>
                <a:spcPct val="150000"/>
              </a:lnSpc>
              <a:buFont typeface="Wingdings" panose="05000000000000000000" pitchFamily="2" charset="2"/>
              <a:buChar char="Ø"/>
              <a:defRPr sz="2000"/>
            </a:pPr>
            <a:r>
              <a:rPr lang="en-IN" sz="2400" b="1" u="sng" dirty="0"/>
              <a:t>Work-Life Balance</a:t>
            </a:r>
            <a:endParaRPr lang="en-IN" b="1" u="sng" dirty="0"/>
          </a:p>
          <a:p>
            <a:pPr marL="342900" indent="-342900">
              <a:lnSpc>
                <a:spcPct val="150000"/>
              </a:lnSpc>
              <a:buFont typeface="Wingdings" panose="05000000000000000000" pitchFamily="2" charset="2"/>
              <a:buChar char="ü"/>
            </a:pPr>
            <a:r>
              <a:rPr lang="en-IN" sz="2000" b="1" u="sng" dirty="0"/>
              <a:t>Key Insights</a:t>
            </a:r>
          </a:p>
          <a:p>
            <a:pPr marL="285750" indent="-285750">
              <a:lnSpc>
                <a:spcPct val="150000"/>
              </a:lnSpc>
              <a:buFont typeface="Arial" panose="020B0604020202020204" pitchFamily="34" charset="0"/>
              <a:buChar char="•"/>
            </a:pPr>
            <a:r>
              <a:rPr lang="en-IN" dirty="0"/>
              <a:t>Displays employees across different work-life balance ratings. </a:t>
            </a:r>
          </a:p>
          <a:p>
            <a:pPr marL="285750" indent="-285750">
              <a:lnSpc>
                <a:spcPct val="150000"/>
              </a:lnSpc>
              <a:buFont typeface="Arial" panose="020B0604020202020204" pitchFamily="34" charset="0"/>
              <a:buChar char="•"/>
            </a:pPr>
            <a:r>
              <a:rPr lang="en-IN" dirty="0"/>
              <a:t>Helps determine whether work-life balance may influence employee attrition. </a:t>
            </a:r>
          </a:p>
          <a:p>
            <a:pPr>
              <a:defRPr sz="2000"/>
            </a:pPr>
            <a:endParaRPr b="1" dirty="0"/>
          </a:p>
        </p:txBody>
      </p:sp>
      <p:sp>
        <p:nvSpPr>
          <p:cNvPr id="5" name="Rectangle 4">
            <a:extLst>
              <a:ext uri="{FF2B5EF4-FFF2-40B4-BE49-F238E27FC236}">
                <a16:creationId xmlns:a16="http://schemas.microsoft.com/office/drawing/2014/main" id="{45F6A1DD-4314-EB6F-AC75-CFB24C755444}"/>
              </a:ext>
            </a:extLst>
          </p:cNvPr>
          <p:cNvSpPr/>
          <p:nvPr/>
        </p:nvSpPr>
        <p:spPr>
          <a:xfrm>
            <a:off x="7843653" y="630393"/>
            <a:ext cx="3797741" cy="2928884"/>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767C2D5E-69EE-57E6-5934-8379EEFAFDE5}"/>
              </a:ext>
            </a:extLst>
          </p:cNvPr>
          <p:cNvSpPr/>
          <p:nvPr/>
        </p:nvSpPr>
        <p:spPr>
          <a:xfrm>
            <a:off x="7843653" y="3657600"/>
            <a:ext cx="4122205" cy="274320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06643" y="274320"/>
            <a:ext cx="3349443" cy="523220"/>
          </a:xfrm>
          <a:prstGeom prst="rect">
            <a:avLst/>
          </a:prstGeom>
          <a:noFill/>
        </p:spPr>
        <p:txBody>
          <a:bodyPr wrap="none">
            <a:spAutoFit/>
          </a:bodyPr>
          <a:lstStyle/>
          <a:p>
            <a:pPr marL="457200" indent="-457200">
              <a:buFont typeface="Wingdings" panose="05000000000000000000" pitchFamily="2" charset="2"/>
              <a:buChar char="v"/>
              <a:defRPr sz="2800" b="1"/>
            </a:pPr>
            <a:r>
              <a:rPr u="sng" dirty="0"/>
              <a:t>Final Dashboard</a:t>
            </a:r>
            <a:r>
              <a:rPr lang="en-US" u="sng" dirty="0"/>
              <a:t> :-</a:t>
            </a:r>
            <a:endParaRPr u="sng" dirty="0"/>
          </a:p>
        </p:txBody>
      </p:sp>
      <p:sp>
        <p:nvSpPr>
          <p:cNvPr id="5" name="Rectangle 4">
            <a:extLst>
              <a:ext uri="{FF2B5EF4-FFF2-40B4-BE49-F238E27FC236}">
                <a16:creationId xmlns:a16="http://schemas.microsoft.com/office/drawing/2014/main" id="{16E5A8FB-FB8C-FDBA-C907-545FB29AE46F}"/>
              </a:ext>
            </a:extLst>
          </p:cNvPr>
          <p:cNvSpPr/>
          <p:nvPr/>
        </p:nvSpPr>
        <p:spPr>
          <a:xfrm>
            <a:off x="442451" y="924232"/>
            <a:ext cx="11385755" cy="5659448"/>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95136" y="273337"/>
            <a:ext cx="3349443" cy="954107"/>
          </a:xfrm>
          <a:prstGeom prst="rect">
            <a:avLst/>
          </a:prstGeom>
          <a:noFill/>
        </p:spPr>
        <p:txBody>
          <a:bodyPr wrap="none">
            <a:spAutoFit/>
          </a:bodyPr>
          <a:lstStyle/>
          <a:p>
            <a:pPr marL="457200" indent="-457200">
              <a:buFont typeface="Wingdings" panose="05000000000000000000" pitchFamily="2" charset="2"/>
              <a:buChar char="v"/>
              <a:defRPr sz="2800" b="1"/>
            </a:pPr>
            <a:r>
              <a:rPr lang="en-IN" u="sng" dirty="0"/>
              <a:t>Final Dashboard :-</a:t>
            </a:r>
          </a:p>
          <a:p>
            <a:pPr>
              <a:defRPr sz="2800" b="1"/>
            </a:pPr>
            <a:endParaRPr dirty="0"/>
          </a:p>
        </p:txBody>
      </p:sp>
      <p:sp>
        <p:nvSpPr>
          <p:cNvPr id="4" name="Rectangle 3">
            <a:extLst>
              <a:ext uri="{FF2B5EF4-FFF2-40B4-BE49-F238E27FC236}">
                <a16:creationId xmlns:a16="http://schemas.microsoft.com/office/drawing/2014/main" id="{B7FA0FC3-3942-5460-494C-EDAED8EB1349}"/>
              </a:ext>
            </a:extLst>
          </p:cNvPr>
          <p:cNvSpPr/>
          <p:nvPr/>
        </p:nvSpPr>
        <p:spPr>
          <a:xfrm>
            <a:off x="412955" y="786583"/>
            <a:ext cx="11366090" cy="1582994"/>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018BF990-B643-755B-22C4-E03C394B98B2}"/>
              </a:ext>
            </a:extLst>
          </p:cNvPr>
          <p:cNvSpPr/>
          <p:nvPr/>
        </p:nvSpPr>
        <p:spPr>
          <a:xfrm>
            <a:off x="412955" y="2418737"/>
            <a:ext cx="11366090" cy="4286864"/>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45974" y="194535"/>
            <a:ext cx="3721788" cy="523220"/>
          </a:xfrm>
          <a:prstGeom prst="rect">
            <a:avLst/>
          </a:prstGeom>
          <a:noFill/>
        </p:spPr>
        <p:txBody>
          <a:bodyPr wrap="none">
            <a:spAutoFit/>
          </a:bodyPr>
          <a:lstStyle/>
          <a:p>
            <a:pPr marL="457200" indent="-457200">
              <a:buFont typeface="Wingdings" panose="05000000000000000000" pitchFamily="2" charset="2"/>
              <a:buChar char="v"/>
              <a:defRPr sz="2800" b="1"/>
            </a:pPr>
            <a:r>
              <a:rPr u="sng" dirty="0"/>
              <a:t>Recommendations</a:t>
            </a:r>
            <a:r>
              <a:rPr lang="en-US" u="sng" dirty="0"/>
              <a:t> :-</a:t>
            </a:r>
            <a:endParaRPr u="sng" dirty="0"/>
          </a:p>
        </p:txBody>
      </p:sp>
      <p:sp>
        <p:nvSpPr>
          <p:cNvPr id="3" name="TextBox 2"/>
          <p:cNvSpPr txBox="1"/>
          <p:nvPr/>
        </p:nvSpPr>
        <p:spPr>
          <a:xfrm>
            <a:off x="649275" y="717755"/>
            <a:ext cx="7464736" cy="6309420"/>
          </a:xfrm>
          <a:prstGeom prst="rect">
            <a:avLst/>
          </a:prstGeom>
          <a:noFill/>
        </p:spPr>
        <p:txBody>
          <a:bodyPr wrap="square">
            <a:spAutoFit/>
          </a:bodyPr>
          <a:lstStyle/>
          <a:p>
            <a:pPr marL="342900" indent="-342900">
              <a:buFont typeface="Wingdings" panose="05000000000000000000" pitchFamily="2" charset="2"/>
              <a:buChar char="Ø"/>
              <a:defRPr sz="2000"/>
            </a:pPr>
            <a:r>
              <a:rPr sz="2400" b="1" u="sng" dirty="0"/>
              <a:t>Actionable HR recommendations</a:t>
            </a:r>
            <a:r>
              <a:rPr lang="en-US" sz="2400" b="1" u="sng" dirty="0"/>
              <a:t> :-</a:t>
            </a:r>
            <a:endParaRPr lang="en-US" dirty="0"/>
          </a:p>
          <a:p>
            <a:pPr>
              <a:lnSpc>
                <a:spcPct val="150000"/>
              </a:lnSpc>
            </a:pPr>
            <a:r>
              <a:rPr lang="en-IN" sz="2000" b="1" dirty="0"/>
              <a:t>1. Reduce Employee Overtime</a:t>
            </a:r>
          </a:p>
          <a:p>
            <a:pPr marL="342900" indent="-342900">
              <a:lnSpc>
                <a:spcPct val="150000"/>
              </a:lnSpc>
              <a:buFont typeface="Arial" panose="020B0604020202020204" pitchFamily="34" charset="0"/>
              <a:buChar char="•"/>
            </a:pPr>
            <a:r>
              <a:rPr lang="en-IN" sz="2000" dirty="0"/>
              <a:t>Monitor overtime hours regularly. </a:t>
            </a:r>
          </a:p>
          <a:p>
            <a:pPr marL="342900" indent="-342900">
              <a:lnSpc>
                <a:spcPct val="150000"/>
              </a:lnSpc>
              <a:buFont typeface="Arial" panose="020B0604020202020204" pitchFamily="34" charset="0"/>
              <a:buChar char="•"/>
            </a:pPr>
            <a:r>
              <a:rPr lang="en-IN" sz="2000" dirty="0"/>
              <a:t>Balance workloads across teams. </a:t>
            </a:r>
          </a:p>
          <a:p>
            <a:pPr marL="342900" indent="-342900">
              <a:lnSpc>
                <a:spcPct val="150000"/>
              </a:lnSpc>
              <a:buFont typeface="Arial" panose="020B0604020202020204" pitchFamily="34" charset="0"/>
              <a:buChar char="•"/>
            </a:pPr>
            <a:r>
              <a:rPr lang="en-IN" sz="2000" dirty="0"/>
              <a:t>Encourage flexible work schedules to reduce burnout.</a:t>
            </a:r>
          </a:p>
          <a:p>
            <a:pPr>
              <a:lnSpc>
                <a:spcPct val="150000"/>
              </a:lnSpc>
            </a:pPr>
            <a:r>
              <a:rPr lang="en-IN" sz="2000" b="1" dirty="0"/>
              <a:t>2. Improve Employee Engagement</a:t>
            </a:r>
          </a:p>
          <a:p>
            <a:pPr marL="342900" indent="-342900">
              <a:lnSpc>
                <a:spcPct val="150000"/>
              </a:lnSpc>
              <a:buFont typeface="Arial" panose="020B0604020202020204" pitchFamily="34" charset="0"/>
              <a:buChar char="•"/>
            </a:pPr>
            <a:r>
              <a:rPr lang="en-IN" sz="2000" dirty="0"/>
              <a:t>Conduct regular feedback and engagement surveys. </a:t>
            </a:r>
          </a:p>
          <a:p>
            <a:pPr marL="342900" indent="-342900">
              <a:lnSpc>
                <a:spcPct val="150000"/>
              </a:lnSpc>
              <a:buFont typeface="Arial" panose="020B0604020202020204" pitchFamily="34" charset="0"/>
              <a:buChar char="•"/>
            </a:pPr>
            <a:r>
              <a:rPr lang="en-IN" sz="2000" dirty="0"/>
              <a:t>Recognize and reward employee performance. </a:t>
            </a:r>
          </a:p>
          <a:p>
            <a:pPr marL="342900" indent="-342900">
              <a:lnSpc>
                <a:spcPct val="150000"/>
              </a:lnSpc>
              <a:buFont typeface="Arial" panose="020B0604020202020204" pitchFamily="34" charset="0"/>
              <a:buChar char="•"/>
            </a:pPr>
            <a:r>
              <a:rPr lang="en-IN" sz="2000" dirty="0"/>
              <a:t>Promote open communication between employees and managers.</a:t>
            </a:r>
          </a:p>
          <a:p>
            <a:pPr>
              <a:lnSpc>
                <a:spcPct val="150000"/>
              </a:lnSpc>
            </a:pPr>
            <a:r>
              <a:rPr lang="en-IN" sz="2000" b="1" dirty="0"/>
              <a:t>3. Enhance Career Development</a:t>
            </a:r>
          </a:p>
          <a:p>
            <a:pPr marL="342900" indent="-342900">
              <a:lnSpc>
                <a:spcPct val="150000"/>
              </a:lnSpc>
              <a:buFont typeface="Arial" panose="020B0604020202020204" pitchFamily="34" charset="0"/>
              <a:buChar char="•"/>
            </a:pPr>
            <a:r>
              <a:rPr lang="en-IN" sz="2000" dirty="0"/>
              <a:t>Provide clear career growth opportunities. </a:t>
            </a:r>
          </a:p>
          <a:p>
            <a:pPr marL="342900" indent="-342900">
              <a:lnSpc>
                <a:spcPct val="150000"/>
              </a:lnSpc>
              <a:buFont typeface="Arial" panose="020B0604020202020204" pitchFamily="34" charset="0"/>
              <a:buChar char="•"/>
            </a:pPr>
            <a:r>
              <a:rPr lang="en-IN" sz="2000" dirty="0"/>
              <a:t>Offer training, upskilling, and certification programs. </a:t>
            </a:r>
          </a:p>
          <a:p>
            <a:pPr marL="342900" indent="-342900">
              <a:lnSpc>
                <a:spcPct val="150000"/>
              </a:lnSpc>
              <a:buFont typeface="Arial" panose="020B0604020202020204" pitchFamily="34" charset="0"/>
              <a:buChar char="•"/>
            </a:pPr>
            <a:r>
              <a:rPr lang="en-IN" sz="2000" dirty="0"/>
              <a:t>Implement mentorship and leadership development initiatives.</a:t>
            </a:r>
          </a:p>
          <a:p>
            <a:pPr>
              <a:defRPr sz="2000"/>
            </a:pPr>
            <a:endParaRPr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85303" y="274320"/>
            <a:ext cx="3721788" cy="954107"/>
          </a:xfrm>
          <a:prstGeom prst="rect">
            <a:avLst/>
          </a:prstGeom>
          <a:noFill/>
        </p:spPr>
        <p:txBody>
          <a:bodyPr wrap="none">
            <a:spAutoFit/>
          </a:bodyPr>
          <a:lstStyle/>
          <a:p>
            <a:pPr marL="457200" indent="-457200">
              <a:buFont typeface="Wingdings" panose="05000000000000000000" pitchFamily="2" charset="2"/>
              <a:buChar char="v"/>
              <a:defRPr sz="2800" b="1"/>
            </a:pPr>
            <a:r>
              <a:rPr lang="en-IN" u="sng" dirty="0"/>
              <a:t>Recommendations :-</a:t>
            </a:r>
          </a:p>
          <a:p>
            <a:pPr>
              <a:defRPr sz="2800" b="1"/>
            </a:pPr>
            <a:endParaRPr dirty="0"/>
          </a:p>
        </p:txBody>
      </p:sp>
      <p:sp>
        <p:nvSpPr>
          <p:cNvPr id="3" name="TextBox 2"/>
          <p:cNvSpPr txBox="1"/>
          <p:nvPr/>
        </p:nvSpPr>
        <p:spPr>
          <a:xfrm>
            <a:off x="548641" y="914400"/>
            <a:ext cx="9431102" cy="5584606"/>
          </a:xfrm>
          <a:prstGeom prst="rect">
            <a:avLst/>
          </a:prstGeom>
          <a:noFill/>
        </p:spPr>
        <p:txBody>
          <a:bodyPr wrap="square">
            <a:spAutoFit/>
          </a:bodyPr>
          <a:lstStyle/>
          <a:p>
            <a:pPr>
              <a:lnSpc>
                <a:spcPct val="150000"/>
              </a:lnSpc>
            </a:pPr>
            <a:r>
              <a:rPr lang="en-IN" sz="2000" b="1" dirty="0"/>
              <a:t>4. Strengthen Work-Life Balance</a:t>
            </a:r>
          </a:p>
          <a:p>
            <a:pPr marL="285750" indent="-285750">
              <a:lnSpc>
                <a:spcPct val="150000"/>
              </a:lnSpc>
              <a:buFont typeface="Arial" panose="020B0604020202020204" pitchFamily="34" charset="0"/>
              <a:buChar char="•"/>
            </a:pPr>
            <a:r>
              <a:rPr lang="en-IN" sz="2000" dirty="0"/>
              <a:t>Introduce flexible working arrangements where possible. </a:t>
            </a:r>
          </a:p>
          <a:p>
            <a:pPr marL="285750" indent="-285750">
              <a:lnSpc>
                <a:spcPct val="150000"/>
              </a:lnSpc>
              <a:buFont typeface="Arial" panose="020B0604020202020204" pitchFamily="34" charset="0"/>
              <a:buChar char="•"/>
            </a:pPr>
            <a:r>
              <a:rPr lang="en-IN" sz="2000" dirty="0"/>
              <a:t>Promote employee wellness and mental health programs. </a:t>
            </a:r>
          </a:p>
          <a:p>
            <a:pPr marL="285750" indent="-285750">
              <a:lnSpc>
                <a:spcPct val="150000"/>
              </a:lnSpc>
              <a:buFont typeface="Arial" panose="020B0604020202020204" pitchFamily="34" charset="0"/>
              <a:buChar char="•"/>
            </a:pPr>
            <a:r>
              <a:rPr lang="en-IN" sz="2000" dirty="0"/>
              <a:t>Encourage employees to maintain a healthy work-life balance. </a:t>
            </a:r>
          </a:p>
          <a:p>
            <a:pPr>
              <a:lnSpc>
                <a:spcPct val="150000"/>
              </a:lnSpc>
            </a:pPr>
            <a:r>
              <a:rPr lang="en-IN" sz="2000" b="1" dirty="0"/>
              <a:t>5. Review Compensation and Benefits</a:t>
            </a:r>
          </a:p>
          <a:p>
            <a:pPr marL="285750" indent="-285750">
              <a:lnSpc>
                <a:spcPct val="150000"/>
              </a:lnSpc>
              <a:buFont typeface="Arial" panose="020B0604020202020204" pitchFamily="34" charset="0"/>
              <a:buChar char="•"/>
            </a:pPr>
            <a:r>
              <a:rPr lang="en-IN" sz="2000" dirty="0"/>
              <a:t>Benchmark salaries against industry standards. </a:t>
            </a:r>
          </a:p>
          <a:p>
            <a:pPr marL="285750" indent="-285750">
              <a:lnSpc>
                <a:spcPct val="150000"/>
              </a:lnSpc>
              <a:buFont typeface="Arial" panose="020B0604020202020204" pitchFamily="34" charset="0"/>
              <a:buChar char="•"/>
            </a:pPr>
            <a:r>
              <a:rPr lang="en-IN" sz="2000" dirty="0"/>
              <a:t>Provide competitive incentives and performance-based rewards. </a:t>
            </a:r>
          </a:p>
          <a:p>
            <a:pPr marL="285750" indent="-285750">
              <a:lnSpc>
                <a:spcPct val="150000"/>
              </a:lnSpc>
              <a:buFont typeface="Arial" panose="020B0604020202020204" pitchFamily="34" charset="0"/>
              <a:buChar char="•"/>
            </a:pPr>
            <a:r>
              <a:rPr lang="en-IN" sz="2000" dirty="0"/>
              <a:t>Regularly review employee benefits to improve satisfaction. </a:t>
            </a:r>
          </a:p>
          <a:p>
            <a:pPr>
              <a:lnSpc>
                <a:spcPct val="150000"/>
              </a:lnSpc>
            </a:pPr>
            <a:r>
              <a:rPr lang="en-IN" sz="2000" b="1" dirty="0"/>
              <a:t>6. Focus on High-Risk Employee Groups</a:t>
            </a:r>
          </a:p>
          <a:p>
            <a:pPr marL="285750" indent="-285750">
              <a:lnSpc>
                <a:spcPct val="150000"/>
              </a:lnSpc>
              <a:buFont typeface="Arial" panose="020B0604020202020204" pitchFamily="34" charset="0"/>
              <a:buChar char="•"/>
            </a:pPr>
            <a:r>
              <a:rPr lang="en-IN" sz="2000" dirty="0"/>
              <a:t>Identify departments, job roles, or employee groups with higher attrition. </a:t>
            </a:r>
          </a:p>
          <a:p>
            <a:pPr marL="285750" indent="-285750">
              <a:lnSpc>
                <a:spcPct val="150000"/>
              </a:lnSpc>
              <a:buFont typeface="Arial" panose="020B0604020202020204" pitchFamily="34" charset="0"/>
              <a:buChar char="•"/>
            </a:pPr>
            <a:r>
              <a:rPr lang="en-IN" sz="2000" dirty="0"/>
              <a:t>Conduct stay interviews to understand employee concerns. </a:t>
            </a:r>
          </a:p>
          <a:p>
            <a:pPr marL="285750" indent="-285750">
              <a:lnSpc>
                <a:spcPct val="150000"/>
              </a:lnSpc>
              <a:buFont typeface="Arial" panose="020B0604020202020204" pitchFamily="34" charset="0"/>
              <a:buChar char="•"/>
            </a:pPr>
            <a:r>
              <a:rPr lang="en-IN" sz="2000" dirty="0"/>
              <a:t>Develop targeted retention strategies for these groups.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E7CDCD-60E8-6228-F734-40CF27F51D1A}"/>
              </a:ext>
            </a:extLst>
          </p:cNvPr>
          <p:cNvSpPr txBox="1"/>
          <p:nvPr/>
        </p:nvSpPr>
        <p:spPr>
          <a:xfrm>
            <a:off x="1258528" y="907026"/>
            <a:ext cx="9547123" cy="4185761"/>
          </a:xfrm>
          <a:prstGeom prst="rect">
            <a:avLst/>
          </a:prstGeom>
          <a:noFill/>
        </p:spPr>
        <p:txBody>
          <a:bodyPr wrap="square" rtlCol="0">
            <a:spAutoFit/>
          </a:bodyPr>
          <a:lstStyle/>
          <a:p>
            <a:pPr marL="342900" indent="-342900">
              <a:buFont typeface="Wingdings" panose="05000000000000000000" pitchFamily="2" charset="2"/>
              <a:buChar char="v"/>
            </a:pPr>
            <a:r>
              <a:rPr lang="en-IN" sz="2400" b="1" u="sng" dirty="0"/>
              <a:t>Expected Business Benefits :-</a:t>
            </a:r>
          </a:p>
          <a:p>
            <a:endParaRPr lang="en-IN" sz="2400" b="1" u="sng" dirty="0"/>
          </a:p>
          <a:p>
            <a:pPr marL="342900" indent="-342900">
              <a:lnSpc>
                <a:spcPct val="150000"/>
              </a:lnSpc>
              <a:buFont typeface="Wingdings" panose="05000000000000000000" pitchFamily="2" charset="2"/>
              <a:buChar char="ü"/>
            </a:pPr>
            <a:r>
              <a:rPr lang="en-IN" sz="2200" dirty="0"/>
              <a:t>Reduced employee attrition </a:t>
            </a:r>
          </a:p>
          <a:p>
            <a:pPr marL="342900" indent="-342900">
              <a:lnSpc>
                <a:spcPct val="150000"/>
              </a:lnSpc>
              <a:buFont typeface="Wingdings" panose="05000000000000000000" pitchFamily="2" charset="2"/>
              <a:buChar char="ü"/>
            </a:pPr>
            <a:r>
              <a:rPr lang="en-IN" sz="2200" dirty="0"/>
              <a:t>Higher employee satisfaction </a:t>
            </a:r>
          </a:p>
          <a:p>
            <a:pPr marL="342900" indent="-342900">
              <a:lnSpc>
                <a:spcPct val="150000"/>
              </a:lnSpc>
              <a:buFont typeface="Wingdings" panose="05000000000000000000" pitchFamily="2" charset="2"/>
              <a:buChar char="ü"/>
            </a:pPr>
            <a:r>
              <a:rPr lang="en-IN" sz="2200" dirty="0"/>
              <a:t>Improved productivity </a:t>
            </a:r>
          </a:p>
          <a:p>
            <a:pPr marL="342900" indent="-342900">
              <a:lnSpc>
                <a:spcPct val="150000"/>
              </a:lnSpc>
              <a:buFont typeface="Wingdings" panose="05000000000000000000" pitchFamily="2" charset="2"/>
              <a:buChar char="ü"/>
            </a:pPr>
            <a:r>
              <a:rPr lang="en-IN" sz="2200" dirty="0"/>
              <a:t>Lower recruitment and training costs </a:t>
            </a:r>
          </a:p>
          <a:p>
            <a:pPr marL="342900" indent="-342900">
              <a:lnSpc>
                <a:spcPct val="150000"/>
              </a:lnSpc>
              <a:buFont typeface="Wingdings" panose="05000000000000000000" pitchFamily="2" charset="2"/>
              <a:buChar char="ü"/>
            </a:pPr>
            <a:r>
              <a:rPr lang="en-IN" sz="2200" dirty="0"/>
              <a:t>Better workforce planning </a:t>
            </a:r>
          </a:p>
          <a:p>
            <a:pPr marL="342900" indent="-342900">
              <a:lnSpc>
                <a:spcPct val="150000"/>
              </a:lnSpc>
              <a:buFont typeface="Wingdings" panose="05000000000000000000" pitchFamily="2" charset="2"/>
              <a:buChar char="ü"/>
            </a:pPr>
            <a:r>
              <a:rPr lang="en-IN" sz="2200" dirty="0"/>
              <a:t>Stronger organizational performance</a:t>
            </a:r>
          </a:p>
          <a:p>
            <a:endParaRPr lang="en-IN" sz="2000" dirty="0"/>
          </a:p>
        </p:txBody>
      </p:sp>
    </p:spTree>
    <p:extLst>
      <p:ext uri="{BB962C8B-B14F-4D97-AF65-F5344CB8AC3E}">
        <p14:creationId xmlns:p14="http://schemas.microsoft.com/office/powerpoint/2010/main" val="3227350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01422" y="2090365"/>
            <a:ext cx="4317207" cy="1015663"/>
          </a:xfrm>
          <a:prstGeom prst="rect">
            <a:avLst/>
          </a:prstGeom>
          <a:noFill/>
        </p:spPr>
        <p:txBody>
          <a:bodyPr wrap="none">
            <a:spAutoFit/>
          </a:bodyPr>
          <a:lstStyle/>
          <a:p>
            <a:pPr>
              <a:defRPr sz="2800" b="1"/>
            </a:pPr>
            <a:r>
              <a:rPr sz="6000" dirty="0">
                <a:latin typeface="Algerian" panose="04020705040A02060702" pitchFamily="82" charset="0"/>
              </a:rPr>
              <a:t>Thank You</a:t>
            </a:r>
          </a:p>
        </p:txBody>
      </p:sp>
      <p:sp>
        <p:nvSpPr>
          <p:cNvPr id="4" name="TextBox 3">
            <a:extLst>
              <a:ext uri="{FF2B5EF4-FFF2-40B4-BE49-F238E27FC236}">
                <a16:creationId xmlns:a16="http://schemas.microsoft.com/office/drawing/2014/main" id="{675D5950-07AE-0AC6-A231-1EB5DD6024B8}"/>
              </a:ext>
            </a:extLst>
          </p:cNvPr>
          <p:cNvSpPr txBox="1"/>
          <p:nvPr/>
        </p:nvSpPr>
        <p:spPr>
          <a:xfrm>
            <a:off x="5860026" y="3596026"/>
            <a:ext cx="5171768" cy="584775"/>
          </a:xfrm>
          <a:prstGeom prst="rect">
            <a:avLst/>
          </a:prstGeom>
          <a:noFill/>
        </p:spPr>
        <p:txBody>
          <a:bodyPr wrap="square" rtlCol="0">
            <a:spAutoFit/>
          </a:bodyPr>
          <a:lstStyle/>
          <a:p>
            <a:r>
              <a:rPr lang="en-US" sz="3200" b="1" dirty="0">
                <a:latin typeface="Arial Rounded MT Bold" panose="020F0704030504030204" pitchFamily="34" charset="0"/>
              </a:rPr>
              <a:t>Made By :- Vishal M Patel</a:t>
            </a:r>
            <a:endParaRPr lang="en-IN" sz="3200" b="1" dirty="0">
              <a:latin typeface="Arial Rounded MT Bold" panose="020F070403050403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123</TotalTime>
  <Words>844</Words>
  <Application>Microsoft Office PowerPoint</Application>
  <PresentationFormat>Widescreen</PresentationFormat>
  <Paragraphs>130</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Algerian</vt:lpstr>
      <vt:lpstr>Arial</vt:lpstr>
      <vt:lpstr>Arial Rounded MT Bold</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VISHAL PATEL</cp:lastModifiedBy>
  <cp:revision>3</cp:revision>
  <dcterms:created xsi:type="dcterms:W3CDTF">2013-01-27T09:14:16Z</dcterms:created>
  <dcterms:modified xsi:type="dcterms:W3CDTF">2026-07-09T16:47:33Z</dcterms:modified>
  <cp:category/>
</cp:coreProperties>
</file>